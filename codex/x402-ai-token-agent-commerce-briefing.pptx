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c0ac6f2bf04ce1" /><Relationship Type="http://schemas.openxmlformats.org/officeDocument/2006/relationships/extended-properties" Target="/docProps/app.xml" Id="Re227de102d2e4be4" /><Relationship Type="http://schemas.openxmlformats.org/officeDocument/2006/relationships/officeDocument" Target="/ppt/presentation.xml" Id="R59390e0cf90947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0eab72dd06467f"/>
  </p:sldMasterIdLst>
  <p:notesMasterIdLst>
    <p:notesMasterId xmlns:r="http://schemas.openxmlformats.org/officeDocument/2006/relationships" r:id="R692b4697ffc64481"/>
  </p:notesMasterIdLst>
  <p:sldIdLst>
    <p:sldId xmlns:r="http://schemas.openxmlformats.org/officeDocument/2006/relationships" id="256" r:id="R7295726261f54ff2"/>
    <p:sldId xmlns:r="http://schemas.openxmlformats.org/officeDocument/2006/relationships" id="257" r:id="Rc206442dd8ca4a35"/>
    <p:sldId xmlns:r="http://schemas.openxmlformats.org/officeDocument/2006/relationships" id="258" r:id="R1d0ddcec10c04b47"/>
    <p:sldId xmlns:r="http://schemas.openxmlformats.org/officeDocument/2006/relationships" id="259" r:id="R6764e01609874948"/>
    <p:sldId xmlns:r="http://schemas.openxmlformats.org/officeDocument/2006/relationships" id="260" r:id="R2233f740b59f41e4"/>
    <p:sldId xmlns:r="http://schemas.openxmlformats.org/officeDocument/2006/relationships" id="261" r:id="R83d86f601bae4d95"/>
    <p:sldId xmlns:r="http://schemas.openxmlformats.org/officeDocument/2006/relationships" id="262" r:id="R514d385f96854874"/>
    <p:sldId xmlns:r="http://schemas.openxmlformats.org/officeDocument/2006/relationships" id="263" r:id="Ra2172c17100d4f7f"/>
    <p:sldId xmlns:r="http://schemas.openxmlformats.org/officeDocument/2006/relationships" id="264" r:id="R35a9029a203f4193"/>
    <p:sldId xmlns:r="http://schemas.openxmlformats.org/officeDocument/2006/relationships" id="265" r:id="R44e5139a3254446c"/>
    <p:sldId xmlns:r="http://schemas.openxmlformats.org/officeDocument/2006/relationships" id="266" r:id="Re0d47b9664aa4d68"/>
    <p:sldId xmlns:r="http://schemas.openxmlformats.org/officeDocument/2006/relationships" id="267" r:id="R8727180dcc2f47f3"/>
    <p:sldId xmlns:r="http://schemas.openxmlformats.org/officeDocument/2006/relationships" id="268" r:id="R14f54014a58243cf"/>
    <p:sldId xmlns:r="http://schemas.openxmlformats.org/officeDocument/2006/relationships" id="269" r:id="R4d332b15cf5e4b8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0eab72dd06467f" /><Relationship Type="http://schemas.openxmlformats.org/officeDocument/2006/relationships/theme" Target="/ppt/theme/theme1.xml" Id="R545d79f1a9994153" /><Relationship Type="http://schemas.openxmlformats.org/officeDocument/2006/relationships/notesMaster" Target="/ppt/notesMasters/notesMaster1.xml" Id="R692b4697ffc64481" /><Relationship Type="http://schemas.openxmlformats.org/officeDocument/2006/relationships/presProps" Target="/ppt/presProps.xml" Id="R3280133d3a8846ab" /><Relationship Type="http://schemas.openxmlformats.org/officeDocument/2006/relationships/viewProps" Target="/ppt/viewProps.xml" Id="R774157f3ca9440b4" /><Relationship Type="http://schemas.openxmlformats.org/officeDocument/2006/relationships/tableStyles" Target="/ppt/tableStyles.xml" Id="Rac140842252b4a87" /><Relationship Type="http://schemas.openxmlformats.org/officeDocument/2006/relationships/slide" Target="/ppt/slides/slide1.xml" Id="R7295726261f54ff2" /><Relationship Type="http://schemas.openxmlformats.org/officeDocument/2006/relationships/slide" Target="/ppt/slides/slide2.xml" Id="Rc206442dd8ca4a35" /><Relationship Type="http://schemas.openxmlformats.org/officeDocument/2006/relationships/slide" Target="/ppt/slides/slide3.xml" Id="R1d0ddcec10c04b47" /><Relationship Type="http://schemas.openxmlformats.org/officeDocument/2006/relationships/slide" Target="/ppt/slides/slide4.xml" Id="R6764e01609874948" /><Relationship Type="http://schemas.openxmlformats.org/officeDocument/2006/relationships/slide" Target="/ppt/slides/slide5.xml" Id="R2233f740b59f41e4" /><Relationship Type="http://schemas.openxmlformats.org/officeDocument/2006/relationships/slide" Target="/ppt/slides/slide6.xml" Id="R83d86f601bae4d95" /><Relationship Type="http://schemas.openxmlformats.org/officeDocument/2006/relationships/slide" Target="/ppt/slides/slide7.xml" Id="R514d385f96854874" /><Relationship Type="http://schemas.openxmlformats.org/officeDocument/2006/relationships/slide" Target="/ppt/slides/slide8.xml" Id="Ra2172c17100d4f7f" /><Relationship Type="http://schemas.openxmlformats.org/officeDocument/2006/relationships/slide" Target="/ppt/slides/slide9.xml" Id="R35a9029a203f4193" /><Relationship Type="http://schemas.openxmlformats.org/officeDocument/2006/relationships/slide" Target="/ppt/slides/slide10.xml" Id="R44e5139a3254446c" /><Relationship Type="http://schemas.openxmlformats.org/officeDocument/2006/relationships/slide" Target="/ppt/slides/slide11.xml" Id="Re0d47b9664aa4d68" /><Relationship Type="http://schemas.openxmlformats.org/officeDocument/2006/relationships/slide" Target="/ppt/slides/slide12.xml" Id="R8727180dcc2f47f3" /><Relationship Type="http://schemas.openxmlformats.org/officeDocument/2006/relationships/slide" Target="/ppt/slides/slide13.xml" Id="R14f54014a58243cf" /><Relationship Type="http://schemas.openxmlformats.org/officeDocument/2006/relationships/slide" Target="/ppt/slides/slide14.xml" Id="R4d332b15cf5e4b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0795f77b8404c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7762cddc254093" /><Relationship Type="http://schemas.openxmlformats.org/officeDocument/2006/relationships/notesMaster" Target="/ppt/notesMasters/notesMaster1.xml" Id="R8bac9b156df44a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9083a21bd847ff" /><Relationship Type="http://schemas.openxmlformats.org/officeDocument/2006/relationships/notesMaster" Target="/ppt/notesMasters/notesMaster1.xml" Id="R9d530d1dae074f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f485a53a95433b" /><Relationship Type="http://schemas.openxmlformats.org/officeDocument/2006/relationships/notesMaster" Target="/ppt/notesMasters/notesMaster1.xml" Id="Rb4d64c6756a348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af1a7e000d4b6d" /><Relationship Type="http://schemas.openxmlformats.org/officeDocument/2006/relationships/notesMaster" Target="/ppt/notesMasters/notesMaster1.xml" Id="Ra2c94a8f006743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020f2b6af64084" /><Relationship Type="http://schemas.openxmlformats.org/officeDocument/2006/relationships/notesMaster" Target="/ppt/notesMasters/notesMaster1.xml" Id="Re60170c893614d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2ea34af4854519" /><Relationship Type="http://schemas.openxmlformats.org/officeDocument/2006/relationships/notesMaster" Target="/ppt/notesMasters/notesMaster1.xml" Id="R4bcf3a3d6b8c4d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7760fabe4f47b8" /><Relationship Type="http://schemas.openxmlformats.org/officeDocument/2006/relationships/notesMaster" Target="/ppt/notesMasters/notesMaster1.xml" Id="R2b3e9675d63f44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3d4ef2885a4073" /><Relationship Type="http://schemas.openxmlformats.org/officeDocument/2006/relationships/notesMaster" Target="/ppt/notesMasters/notesMaster1.xml" Id="Rea9ff3b765a14e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e4275bf4d84ff0" /><Relationship Type="http://schemas.openxmlformats.org/officeDocument/2006/relationships/notesMaster" Target="/ppt/notesMasters/notesMaster1.xml" Id="R2b20f76e04de4c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a10952bd722434f" /><Relationship Type="http://schemas.openxmlformats.org/officeDocument/2006/relationships/notesMaster" Target="/ppt/notesMasters/notesMaster1.xml" Id="R9e69da45eac347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1c9452325e64dfe" /><Relationship Type="http://schemas.openxmlformats.org/officeDocument/2006/relationships/notesMaster" Target="/ppt/notesMasters/notesMaster1.xml" Id="R740341de5ad44e7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80ece15adbb4bac" /><Relationship Type="http://schemas.openxmlformats.org/officeDocument/2006/relationships/notesMaster" Target="/ppt/notesMasters/notesMaster1.xml" Id="R2fd4e794a7e345a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48a4c28e3314f89" /><Relationship Type="http://schemas.openxmlformats.org/officeDocument/2006/relationships/notesMaster" Target="/ppt/notesMasters/notesMaster1.xml" Id="R52323b9c3deb4c1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9735e2785904815" /><Relationship Type="http://schemas.openxmlformats.org/officeDocument/2006/relationships/notesMaster" Target="/ppt/notesMasters/notesMaster1.xml" Id="R8eadd7651b7049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725cc6cf86480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233c27071e047fe" /><Relationship Type="http://schemas.openxmlformats.org/officeDocument/2006/relationships/slideLayout" Target="/ppt/slideLayouts/slideLayout2.xml" Id="Re57caaa853994a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7caaa853994a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20b656ff8c4ca8" /><Relationship Type="http://schemas.openxmlformats.org/officeDocument/2006/relationships/notesSlide" Target="/ppt/notesSlides/notesSlide1.xml" Id="Raed85153014a4c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9e250f615b4f37" /><Relationship Type="http://schemas.openxmlformats.org/officeDocument/2006/relationships/notesSlide" Target="/ppt/notesSlides/notesSlide2.xml" Id="Rbb40a80d2f4049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e8a7d8e89e436d" /><Relationship Type="http://schemas.openxmlformats.org/officeDocument/2006/relationships/notesSlide" Target="/ppt/notesSlides/notesSlide3.xml" Id="R7bf8b1f14a9e4d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e0724c5e8e4bd0" /><Relationship Type="http://schemas.openxmlformats.org/officeDocument/2006/relationships/notesSlide" Target="/ppt/notesSlides/notesSlide4.xml" Id="R3b8760a3b91d40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5963eb0e314068" /><Relationship Type="http://schemas.openxmlformats.org/officeDocument/2006/relationships/notesSlide" Target="/ppt/notesSlides/notesSlide5.xml" Id="Rd7e0dec0de5a4d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db7454f8494aa9" /><Relationship Type="http://schemas.openxmlformats.org/officeDocument/2006/relationships/notesSlide" Target="/ppt/notesSlides/notesSlide6.xml" Id="R9f8a86489c0940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aea6aab1bd4daf" /><Relationship Type="http://schemas.openxmlformats.org/officeDocument/2006/relationships/notesSlide" Target="/ppt/notesSlides/notesSlide7.xml" Id="R4e68f02416e04e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eda3a3844542cd" /><Relationship Type="http://schemas.openxmlformats.org/officeDocument/2006/relationships/notesSlide" Target="/ppt/notesSlides/notesSlide8.xml" Id="R44ad553a61f34c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2f97c1be6a4524" /><Relationship Type="http://schemas.openxmlformats.org/officeDocument/2006/relationships/notesSlide" Target="/ppt/notesSlides/notesSlide9.xml" Id="Rf01855ef08a242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a5f41b20534bc3" /><Relationship Type="http://schemas.openxmlformats.org/officeDocument/2006/relationships/notesSlide" Target="/ppt/notesSlides/notesSlide10.xml" Id="R0ea9ee40d87a412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7de2d0a66f4943" /><Relationship Type="http://schemas.openxmlformats.org/officeDocument/2006/relationships/notesSlide" Target="/ppt/notesSlides/notesSlide11.xml" Id="R423a7ee5349646d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28c7e57ab7475a" /><Relationship Type="http://schemas.openxmlformats.org/officeDocument/2006/relationships/notesSlide" Target="/ppt/notesSlides/notesSlide12.xml" Id="R8773ea8be0f947f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b12004bdb944d2" /><Relationship Type="http://schemas.openxmlformats.org/officeDocument/2006/relationships/notesSlide" Target="/ppt/notesSlides/notesSlide13.xml" Id="Re0195a4f3cea4ad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5886ac076349b5" /><Relationship Type="http://schemas.openxmlformats.org/officeDocument/2006/relationships/notesSlide" Target="/ppt/notesSlides/notesSlide14.xml" Id="R266f14d4abcb4ec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95BEF4-0310-4D13-A56B-C78DCD23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93C400-CD04-45B0-A79F-A7C67073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2033"/>
              </a:gs>
              <a:gs pos="61000">
                <a:srgbClr val="203452"/>
              </a:gs>
              <a:gs pos="100000">
                <a:srgbClr val="273044"/>
              </a:gs>
            </a:gsLst>
            <a:lin ang="108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A60267-49C1-4A11-8CFB-BCB9341B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0485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E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E2C582-A58D-4458-909D-3B8017BA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466850"/>
            <a:ext cx="1581150" cy="1581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4F54"/>
          </a:solidFill>
          <a:ln xmlns:a="http://schemas.openxmlformats.org/drawingml/2006/main" w="9525">
            <a:solidFill>
              <a:srgbClr val="55716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CEB86-81E0-4445-8AC6-7580639C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52625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F1E1B8"/>
                </a:solidFill>
                <a:latin typeface="Avenir Next"/>
                <a:ea typeface="Avenir Next"/>
                <a:cs typeface="Avenir Next"/>
              </a:defRPr>
            </a:pPr>
            <a:r>
              <a:rPr sz="2475" b="1">
                <a:solidFill>
                  <a:srgbClr val="F1E1B8"/>
                </a:solidFill>
                <a:latin typeface="Avenir Next"/>
                <a:ea typeface="Avenir Next"/>
                <a:cs typeface="Avenir Next"/>
              </a:rPr>
              <a:t>x402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4686D-19E2-4CB7-A003-B77847AE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146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DE8E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DDE8E5"/>
                </a:solidFill>
                <a:latin typeface="Avenir Next"/>
                <a:ea typeface="Avenir Next"/>
                <a:cs typeface="Avenir Next"/>
              </a:rPr>
              <a:t>USDC / Solana</a:t>
            </a:r>
          </a:p>
          <a:p xmlns:a="http://schemas.openxmlformats.org/drawingml/2006/main">
            <a:pPr algn="ctr">
              <a:defRPr sz="1200" b="0">
                <a:solidFill>
                  <a:srgbClr val="DDE8E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DDE8E5"/>
                </a:solidFill>
                <a:latin typeface="Avenir Next"/>
                <a:ea typeface="Avenir Next"/>
                <a:cs typeface="Avenir Next"/>
              </a:rPr>
              <a:t>AI Token</a:t>
            </a:r>
          </a:p>
        </p:txBody>
      </p:sp>
      <p:sp>
        <p:nvSpPr>
          <p:cNvPr id="7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B241C11-4311-4DA3-9676-C4B34494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F46EF34-91A0-4C51-B94E-E596C486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E1B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1E1B8"/>
                </a:solidFill>
                <a:latin typeface="Avenir Next"/>
                <a:ea typeface="Avenir Next"/>
                <a:cs typeface="Avenir Next"/>
              </a:rPr>
              <a:t>MANAGEMENT BRIEFING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3B2AA7-6748-49F0-A4AD-45FBDE7D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71437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使用 X402 购买 AI Token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并为 Agentic Commerce 提供支付服务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2A7959-6AC4-4915-BEA5-13C7E920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6705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E1E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D7E1E5"/>
                </a:solidFill>
                <a:latin typeface="Hiragino Sans GB"/>
                <a:ea typeface="Hiragino Sans GB"/>
                <a:cs typeface="Hiragino Sans GB"/>
              </a:rPr>
              <a:t>Netstars 以 Web2 聚合支付能力为基础，联合 Wea Japan、Solana USDC 与 AI Token 销售服务，展示面向商户的端到端支付与 Token 运营闭环。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EFF4F7-E425-4A68-9829-17E781D0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1333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C475C"/>
          </a:solidFill>
          <a:ln xmlns:a="http://schemas.openxmlformats.org/drawingml/2006/main" w="9525">
            <a:solidFill>
              <a:srgbClr val="49647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E9F6D4-8B87-4E50-8A8F-2C73911E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Web2 PSP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BB68A0-DBE9-49E1-9D95-BBA3AF32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00050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C475C"/>
          </a:solidFill>
          <a:ln xmlns:a="http://schemas.openxmlformats.org/drawingml/2006/main" w="9525">
            <a:solidFill>
              <a:srgbClr val="49647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7373FF-0137-4A43-B067-7D6D9290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5765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Web3 Stablecoin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1C706A-B4C6-487F-ABD0-9AB23663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00500"/>
            <a:ext cx="1924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C475C"/>
          </a:solidFill>
          <a:ln xmlns:a="http://schemas.openxmlformats.org/drawingml/2006/main" w="9525">
            <a:solidFill>
              <a:srgbClr val="49647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32BE76-7835-4E8E-9A3A-87FB8A6D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0576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AI Token Reseller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E5FC9E-9429-48C5-A0A2-910CAB10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00500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D4C5B"/>
          </a:solidFill>
          <a:ln xmlns:a="http://schemas.openxmlformats.org/drawingml/2006/main" w="9525">
            <a:solidFill>
              <a:srgbClr val="C59A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752582-1EF5-4EB5-854D-EC127C05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5765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1E1B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1E1B8"/>
                </a:solidFill>
                <a:latin typeface="Hiragino Sans GB"/>
                <a:ea typeface="Hiragino Sans GB"/>
                <a:cs typeface="Hiragino Sans GB"/>
              </a:rPr>
              <a:t>Agent Commerce Demo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3B67D5-A4A0-4B53-82CB-7DEA4DDE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95850"/>
            <a:ext cx="2038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047"/>
          </a:solidFill>
          <a:ln xmlns:a="http://schemas.openxmlformats.org/drawingml/2006/main" w="9525">
            <a:solidFill>
              <a:srgbClr val="52617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41C1D8-3325-4EED-BF54-B43C3355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1E1B8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F1E1B8"/>
                </a:solidFill>
                <a:latin typeface="Avenir Next"/>
                <a:ea typeface="Avenir Next"/>
                <a:cs typeface="Avenir Next"/>
              </a:rPr>
              <a:t>Demo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FFCBC3-87BA-4E1A-8EA7-47180C79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830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3DE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D3DEE2"/>
                </a:solidFill>
                <a:latin typeface="Hiragino Sans GB"/>
                <a:ea typeface="Hiragino Sans GB"/>
                <a:cs typeface="Hiragino Sans GB"/>
              </a:rPr>
              <a:t>展示目标：让经营层看到可销售、可结算、可追溯的商业服务形态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A490AA-1B26-4718-AD6F-6B7AEDD8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895850"/>
            <a:ext cx="2038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047"/>
          </a:solidFill>
          <a:ln xmlns:a="http://schemas.openxmlformats.org/drawingml/2006/main" w="9525">
            <a:solidFill>
              <a:srgbClr val="52617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825A62-ECE8-48F3-81A6-B167F5B8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0673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1E1B8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F1E1B8"/>
                </a:solidFill>
                <a:latin typeface="Avenir Next"/>
                <a:ea typeface="Avenir Next"/>
                <a:cs typeface="Avenir Next"/>
              </a:rPr>
              <a:t>x402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FF8D9B-5BC8-45FD-BB25-C6308DB1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44830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3DE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D3DEE2"/>
                </a:solidFill>
                <a:latin typeface="Hiragino Sans GB"/>
                <a:ea typeface="Hiragino Sans GB"/>
                <a:cs typeface="Hiragino Sans GB"/>
              </a:rPr>
              <a:t>支付协议：x402 + USDC，实现小额、高频、低损耗支付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4A3BF2-F7D3-4FE2-9B04-9FBA0EF4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895850"/>
            <a:ext cx="2038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047"/>
          </a:solidFill>
          <a:ln xmlns:a="http://schemas.openxmlformats.org/drawingml/2006/main" w="9525">
            <a:solidFill>
              <a:srgbClr val="52617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989942-2789-48F7-A794-A5926E65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0673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1E1B8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F1E1B8"/>
                </a:solidFill>
                <a:latin typeface="Avenir Next"/>
                <a:ea typeface="Avenir Next"/>
                <a:cs typeface="Avenir Next"/>
              </a:rPr>
              <a:t>Closed Loop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06D6B1-EC5E-4A95-91B8-AB79C70D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44830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3DE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D3DEE2"/>
                </a:solidFill>
                <a:latin typeface="Hiragino Sans GB"/>
                <a:ea typeface="Hiragino Sans GB"/>
                <a:cs typeface="Hiragino Sans GB"/>
              </a:rPr>
              <a:t>商业闭环：充值、购买、调用、扣减、查询、发票、结算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055C80-E41B-45BD-A6A1-9BFC279E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0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D4E098-9F6F-47FC-92F8-F264EE6B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7D0D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C7D0D6"/>
                </a:solidFill>
                <a:latin typeface="Avenir Next"/>
                <a:ea typeface="Avenir Next"/>
                <a:cs typeface="Avenir Next"/>
              </a:rPr>
              <a:t>Source: proposal.md | Internal demo narrative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5D7C50-267A-4DDB-A044-02B90D24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C7D0D6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C7D0D6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6916317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47DA4F-F305-4AC3-B928-32838203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C13503-5B8E-44C8-9AAF-8B630C9C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92C61-0FDA-4B4F-AD6C-CD443F1A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A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2E7C88D-5223-44D9-BB67-B53EFB0C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B72543E-9A80-4A7F-B6F6-B05EC971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B6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E6B67"/>
                </a:solidFill>
                <a:latin typeface="Avenir Next"/>
                <a:ea typeface="Avenir Next"/>
                <a:cs typeface="Avenir Next"/>
              </a:rPr>
              <a:t>EXECUTIVE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655AB-4183-43E2-84DF-16AA6276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这不是一次技术 PoC，而是把 AI Token 变成可售支付商品的样板间。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86A289-0597-4A03-84D5-85A9683A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经营层需要判断的不是“能不能转账”，而是 Netstars 能否把支付、Token、账务和商户接入包装成可规模化服务。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1C6BDB-D4CE-4856-B817-0E17AB3A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48196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C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8D87A4-F7C0-4D47-9D30-0C8B285D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27D59-2563-4B8A-BAF9-4617CC63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E6B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0E6B67"/>
                </a:solidFill>
                <a:latin typeface="Hiragino Sans GB"/>
                <a:ea typeface="Hiragino Sans GB"/>
                <a:cs typeface="Hiragino Sans GB"/>
              </a:rPr>
              <a:t>市场触发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A5213D-BD35-458A-95C0-D88D7E11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171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rPr>
              <a:t>AI Agent 会带来小额、高频、按需调用的 Token 消耗，传统一次性购买体验无法覆盖实时商业场景。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1C2202-8647-4148-A97C-71754DD1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09800"/>
            <a:ext cx="48196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C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FB725-03A4-4EDD-844A-3F66D4BA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098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F54646-2810-4B30-8030-E184EC08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193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59A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C59A3D"/>
                </a:solidFill>
                <a:latin typeface="Hiragino Sans GB"/>
                <a:ea typeface="Hiragino Sans GB"/>
                <a:cs typeface="Hiragino Sans GB"/>
              </a:rPr>
              <a:t>Netstars 位置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110080-CCEC-40F9-A05B-5FE8DC70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43200"/>
            <a:ext cx="4171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rPr>
              <a:t>已有 Web2 聚合支付入口，又在 Web3 稳定币支付结算上完成实际探索，可成为商户侧统一接入方。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76509C-2D67-44B6-9378-EFE868AE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48196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CC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9B4CDD-683F-41EA-A3CE-184A0CE1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5C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1523C9-F649-4A15-AA82-3D93C1D8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F5C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5F5C9B"/>
                </a:solidFill>
                <a:latin typeface="Hiragino Sans GB"/>
                <a:ea typeface="Hiragino Sans GB"/>
                <a:cs typeface="Hiragino Sans GB"/>
              </a:rPr>
              <a:t>Demo 要证明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A8AEBA-754B-4114-8827-26C69815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4171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rPr>
              <a:t>Agent 用 USDC 通过 x402 完成 Token 充值，Token 系统立即入账，并支持调用、扣减、查询、发票与结算。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3CB792-97F8-46B5-97CD-1FD3E82C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90950"/>
            <a:ext cx="48196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CC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611D99-D512-4ACC-B971-7AAB4807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909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3AD7ED-708C-464D-82A5-5D53E629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C7C5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4C7C59"/>
                </a:solidFill>
                <a:latin typeface="Hiragino Sans GB"/>
                <a:ea typeface="Hiragino Sans GB"/>
                <a:cs typeface="Hiragino Sans GB"/>
              </a:rPr>
              <a:t>商业落点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5F39A3-25BD-41C0-8F49-4823AB70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24350"/>
            <a:ext cx="4171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rPr>
              <a:t>以 SDK / API / MCP 打包为商户服务，降低理解和接入门槛，同时沉淀支付与 Token 运营数据。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8076DD-5E79-4892-810A-2CDA333C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153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D4"/>
          </a:solidFill>
          <a:ln xmlns:a="http://schemas.openxmlformats.org/drawingml/2006/main" w="9525">
            <a:solidFill>
              <a:srgbClr val="D0C2B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886E26-3E5E-4DFD-9A75-3DC29015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5A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B65A4B"/>
                </a:solidFill>
                <a:latin typeface="Hiragino Sans GB"/>
                <a:ea typeface="Hiragino Sans GB"/>
                <a:cs typeface="Hiragino Sans GB"/>
              </a:rPr>
              <a:t>一句话结论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E75C9E-AF10-4723-8B51-5991AE1B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695950"/>
            <a:ext cx="838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Netstars 可以把 x402 从“协议能力”包装成商户可购买的 Agent Commerce 支付与 Token 运营服务。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98C9B2-523F-4477-8A1E-CDD23D37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B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44FC79-D720-4CDA-9C3E-8C5862EE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B8491"/>
                </a:solidFill>
                <a:latin typeface="Avenir Next"/>
                <a:ea typeface="Avenir Next"/>
                <a:cs typeface="Avenir Next"/>
              </a:rPr>
              <a:t>Source: proposal.md | Internal demo narrative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42F0A7-2373-479B-9B32-604CBEF2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491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7B8491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0036522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06551F-6ADD-4BBA-90F6-067A33FC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97EA73-1DE4-4CC4-B730-8B9BCF49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988DB-E6FF-4C42-840A-E7D02E00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A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2DF31B6-39B5-4FDD-BF48-BC370468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027C15B-E972-4601-BE5D-E8F92466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B6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E6B67"/>
                </a:solidFill>
                <a:latin typeface="Avenir Next"/>
                <a:ea typeface="Avenir Next"/>
                <a:cs typeface="Avenir Next"/>
              </a:rPr>
              <a:t>WHY 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24A8F1-8EC6-4901-A15D-305F6E16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Agentic Commerce 的支付需求，正在从“人发起的大额交易”转向“Agent 发起的小额高频调用”。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9A4616-B903-4D4D-86D8-F067C76A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C4B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2F98DF-0F25-460F-86A4-6CA331B9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71725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65A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B65A4B"/>
                </a:solidFill>
                <a:latin typeface="Hiragino Sans GB"/>
                <a:ea typeface="Hiragino Sans GB"/>
                <a:cs typeface="Hiragino Sans GB"/>
              </a:rPr>
              <a:t>传统支付体验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579BB1-8F54-4060-9D78-417191C1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57475"/>
            <a:ext cx="28384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一次性购买、页面跳转、人工确认、按订单结算。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适合商品交易，但不适合 Agent 在调用过程中连续付费。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DF05AB-930E-49F8-8ECB-D2F74057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38350"/>
            <a:ext cx="31432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BF6"/>
          </a:solidFill>
          <a:ln xmlns:a="http://schemas.openxmlformats.org/drawingml/2006/main" w="9525">
            <a:solidFill>
              <a:srgbClr val="C59A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F1062D-F4C5-4977-AFB0-51B8324B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171700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59A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C59A3D"/>
                </a:solidFill>
                <a:latin typeface="Hiragino Sans GB"/>
                <a:ea typeface="Hiragino Sans GB"/>
                <a:cs typeface="Hiragino Sans GB"/>
              </a:rPr>
              <a:t>Agent 支付需求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5E304D-3394-499D-9761-BF263F9E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457450"/>
            <a:ext cx="28384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微额：单次调用价值很小</a:t>
            </a:r>
          </a:p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高频：多轮任务持续消耗</a:t>
            </a:r>
          </a:p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实时：支付状态要立即返回</a:t>
            </a:r>
          </a:p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可追溯：资金与数据要留痕</a:t>
            </a:r>
          </a:p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可组合：API / SDK / MCP 接入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BD1A64-91CC-4FF5-B936-7EF440CD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38375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C4B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CDB523-B4C3-4F0D-92EC-0CDE5F9A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71725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6B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E6B67"/>
                </a:solidFill>
                <a:latin typeface="Hiragino Sans GB"/>
                <a:ea typeface="Hiragino Sans GB"/>
                <a:cs typeface="Hiragino Sans GB"/>
              </a:rPr>
              <a:t>x402 + USDC 的价值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076236-1C73-4A7F-86FA-20EA4000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57475"/>
            <a:ext cx="28384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用 HTTP 402 支付语义承载链上稳定币支付；把“访问资源”与“完成支付”合并为可自动化流程。</a:t>
            </a:r>
          </a:p>
        </p:txBody>
      </p:sp>
      <p:cxnSp>
        <p:nvCxnSpPr>
          <p:cNvPr id="16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810000" y="347662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65A4B"/>
            </a:solidFill>
            <a:prstDash val="solid"/>
            <a:tailEnd type="arrow" w="sm" len="sm"/>
          </a:ln>
        </p:spPr>
      </p:cxnSp>
      <p:cxnSp>
        <p:nvCxnSpPr>
          <p:cNvPr id="17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667625" y="347662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6B67"/>
            </a:solidFill>
            <a:prstDash val="solid"/>
            <a:tailEnd type="arrow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8DF1BD-5B5D-4BBE-8E1E-5848AD37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959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6B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E6B67"/>
                </a:solidFill>
                <a:latin typeface="Hiragino Sans GB"/>
                <a:ea typeface="Hiragino Sans GB"/>
                <a:cs typeface="Hiragino Sans GB"/>
              </a:rPr>
              <a:t>经营视角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872EA0-4655-4869-B4A0-119BD510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76850"/>
            <a:ext cx="7867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谁能把支付授权、Token 库存、调用计费、结算票据放进同一个商户服务包，谁就更容易成为 Agent Commerce 的基础设施入口。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8FDF16-A4F4-4074-B536-9A5989AA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B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7407AF-9F89-4A51-B344-214EC577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B8491"/>
                </a:solidFill>
                <a:latin typeface="Avenir Next"/>
                <a:ea typeface="Avenir Next"/>
                <a:cs typeface="Avenir Next"/>
              </a:rPr>
              <a:t>Source: proposal.md | Internal demo narrative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A91B51-520D-43F8-9B88-790B1415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491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7B8491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4429247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F48DDF-B865-41EE-9DF0-6D323290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C7C9E-26A3-44A6-B96F-308A0BC9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165C3-6179-4094-9A82-591D3C60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A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729F95B-6488-4795-B6AD-91911F7B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1B9ECC9-B336-4BF7-9EB2-81FD4625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B6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E6B67"/>
                </a:solidFill>
                <a:latin typeface="Avenir Next"/>
                <a:ea typeface="Avenir Next"/>
                <a:cs typeface="Avenir Next"/>
              </a:rPr>
              <a:t>DEMO STORY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F10DB-CC94-4C40-9F3D-EC9DAF17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用“机场零售运营 Agent”讲清楚：Agent 购买 Token 后，立刻完成一次真实业务调用。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34559C-AF97-4A15-A708-ED997FE8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场景不展示技术炫技，而展示商户能理解的经营任务：用 AI 生成多语言促销内容、库存建议和门店日报。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6EEC6-48FE-4C35-B55F-82FDCF52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E4C6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2FE1A9-8ABB-45B4-AED2-678A082B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1E1B8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1E1B8"/>
                </a:solidFill>
                <a:latin typeface="Avenir Next"/>
                <a:ea typeface="Avenir Next"/>
                <a:cs typeface="Avenir Next"/>
              </a:rPr>
              <a:t>Merchant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E1E8EF-8AE2-4490-A80C-A4788A75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85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“明早 9 点前给羽田机场店生成中文、英文、韩文三版促销文案，并结合库存给出补货建议。”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E811D6-6397-4674-8BD1-C68AF4AE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2857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7D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CBD7DE"/>
                </a:solidFill>
                <a:latin typeface="Hiragino Sans GB"/>
                <a:ea typeface="Hiragino Sans GB"/>
                <a:cs typeface="Hiragino Sans GB"/>
              </a:rPr>
              <a:t>Agent 检查余额：Token 不足</a:t>
            </a:r>
          </a:p>
          <a:p xmlns:a="http://schemas.openxmlformats.org/drawingml/2006/main">
            <a:pPr algn="l">
              <a:defRPr sz="1200" b="0">
                <a:solidFill>
                  <a:srgbClr val="CBD7D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CBD7DE"/>
                </a:solidFill>
                <a:latin typeface="Hiragino Sans GB"/>
                <a:ea typeface="Hiragino Sans GB"/>
                <a:cs typeface="Hiragino Sans GB"/>
              </a:rPr>
              <a:t>Agent 发起：购买 10,000 AI Token</a:t>
            </a:r>
          </a:p>
          <a:p xmlns:a="http://schemas.openxmlformats.org/drawingml/2006/main">
            <a:pPr algn="l">
              <a:defRPr sz="1200" b="0">
                <a:solidFill>
                  <a:srgbClr val="CBD7D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CBD7DE"/>
                </a:solidFill>
                <a:latin typeface="Hiragino Sans GB"/>
                <a:ea typeface="Hiragino Sans GB"/>
                <a:cs typeface="Hiragino Sans GB"/>
              </a:rPr>
              <a:t>支付方式：USDC via x402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A52912-71FC-49A1-8B89-E556BEFB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33600"/>
            <a:ext cx="18478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C7B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6A4582-226F-421C-8D8B-CFA519A2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6695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业务任务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E01C70-64EA-4812-8C0F-F498481E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52700"/>
            <a:ext cx="1543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门店运营 Agent 接到多语言内容与库存分析任务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E99E50-B85A-4772-9DC7-DC60DBDF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66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15E2E4-59D2-4F93-B117-86372D87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0505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15F0C3-FB59-445D-BE69-B23A878F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133600"/>
            <a:ext cx="18478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C7B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8F8B9F-E442-4A1A-B8C6-B5C1303B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26695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余额检查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B19C96-788F-486C-B439-CD4BF1ED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552700"/>
            <a:ext cx="1543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调用 Netstars Token API 查询余额不足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014179-727D-45F5-84BF-AF958000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266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1179F6-0C9C-48A3-B58D-CE70008A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30505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6E1BE5-8186-416F-A867-8526106B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717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C10CB3-2A63-4EB3-B2C7-EBEE8CA8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5717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24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6353175" y="25765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59A3D"/>
            </a:solidFill>
            <a:prstDash val="solid"/>
            <a:tailEnd type="arrow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6FECEA-2269-4463-8E56-82F9EB41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33600"/>
            <a:ext cx="18478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E8"/>
          </a:solidFill>
          <a:ln xmlns:a="http://schemas.openxmlformats.org/drawingml/2006/main" w="9525">
            <a:solidFill>
              <a:srgbClr val="0E6B6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013A08-E24C-4B6D-B68A-C2D74CA6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6695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6B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E6B67"/>
                </a:solidFill>
                <a:latin typeface="Hiragino Sans GB"/>
                <a:ea typeface="Hiragino Sans GB"/>
                <a:cs typeface="Hiragino Sans GB"/>
              </a:rPr>
              <a:t>x402 支付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0C8137-E4A8-4D6F-A73D-E6AD93B7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52700"/>
            <a:ext cx="1543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Agent 用 USDC 完成 Token 购买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70C954-ED58-4BE4-AA40-C1A2FFDB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66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6B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19E718-167D-4CE8-BD5F-EEE65B2B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30505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9AFF5E-3241-4072-A033-E8DD4DEE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5717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1B47CA-205F-44F4-A228-B2D60AA9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717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32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8591550" y="25765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59A3D"/>
            </a:solidFill>
            <a:prstDash val="solid"/>
            <a:tailEnd type="arrow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5A9E9A-C4A2-46CD-ADB0-53223311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00450"/>
            <a:ext cx="18478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E8"/>
          </a:solidFill>
          <a:ln xmlns:a="http://schemas.openxmlformats.org/drawingml/2006/main" w="9525">
            <a:solidFill>
              <a:srgbClr val="0E6B6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63A906-A35A-49FF-B75C-65EABD85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3380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6B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E6B67"/>
                </a:solidFill>
                <a:latin typeface="Hiragino Sans GB"/>
                <a:ea typeface="Hiragino Sans GB"/>
                <a:cs typeface="Hiragino Sans GB"/>
              </a:rPr>
              <a:t>Token 入账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3251F0-88E3-4ECC-89DA-16C888B7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19550"/>
            <a:ext cx="1543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Token 系统确认支付状态并更新余额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69E2F8-FB73-4B0C-9C6A-FF5088A3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733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6B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A9EC2D-0197-4838-8C70-51F5BB1B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77190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F23B75-48A7-4DD7-B186-BF1096C9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600450"/>
            <a:ext cx="18478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C7B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051671-BDAE-488A-B140-AF4D7756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73380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AI 调用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766A5D-2BAA-4568-975C-DF16AFC7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019550"/>
            <a:ext cx="1543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Agent 调用授权模型完成内容生成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77FC4A-60F7-4640-B4B7-25961DC6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733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CBE7AF-1B3C-4B80-B3C5-EA792965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77190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B5A9192-7E1D-45F3-A629-2D76A510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386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1267CA-0A62-49DB-84C2-43FFDF69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0386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45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6353175" y="404336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59A3D"/>
            </a:solidFill>
            <a:prstDash val="solid"/>
            <a:tailEnd type="arrow" w="sm" len="sm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F4D6992-DB4E-49FE-82B9-0042C3A8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00450"/>
            <a:ext cx="18478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C7B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127ADB3-B3BC-49C7-BA3F-DA3CD0E3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3380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账务闭环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786C78B-E909-4706-98D3-419D3467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19550"/>
            <a:ext cx="1543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展示消耗、余额、发票与结算记录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4924C9-1660-4FDF-8267-2419505F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733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6A5AD83-1308-4200-84B4-F9B0945B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77190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6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39F6406-5D5B-4A0D-90FA-AD4CA3E2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0386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779A401-544E-4516-AE0A-1881E21B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386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53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8591550" y="404336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59A3D"/>
            </a:solidFill>
            <a:prstDash val="solid"/>
            <a:tailEnd type="arrow" w="sm" len="sm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57829CE-C298-459A-8120-66CA28BC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76850"/>
            <a:ext cx="628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Demo 结尾画面必须出现四个结果：支付成功、Token 余额增加、业务调用完成、账务可查询。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308E807-5CBA-4C05-BBCE-6DF6F346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B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DCDC2A0-7DC5-4B74-862B-B6CC01CC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B8491"/>
                </a:solidFill>
                <a:latin typeface="Avenir Next"/>
                <a:ea typeface="Avenir Next"/>
                <a:cs typeface="Avenir Next"/>
              </a:rPr>
              <a:t>Source: proposal.md | Internal demo narrative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2A63F83-B085-4060-8FC2-AEB26CDB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491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7B8491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9587197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24B1B2-E2AF-4BF5-AC32-98E6ADD2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0B887-B37C-4168-B841-902BB666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A2F178-C6AB-4AA4-9032-E2C788B2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A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5FA86DE-E019-4ECF-9285-6E939DA8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3A36350-54F4-4C08-92B8-FE04E253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B6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E6B67"/>
                </a:solidFill>
                <a:latin typeface="Avenir Next"/>
                <a:ea typeface="Avenir Next"/>
                <a:cs typeface="Avenir Next"/>
              </a:rPr>
              <a:t>ECOSYSTEM ROLES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A5AA7-2805-4225-A88C-5D2B8646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Demo 的主体边界要清楚：Netstars 面向客户统一承接，Wea Japan 执行链上支付。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7E16EB-BF81-4514-9DCC-C2291BB4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133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5CD"/>
          </a:solidFill>
          <a:ln xmlns:a="http://schemas.openxmlformats.org/drawingml/2006/main" w="9525">
            <a:solidFill>
              <a:srgbClr val="B65A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84F2A8-3AE9-4C78-8D70-D20AAB5C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1828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65A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B65A4B"/>
                </a:solidFill>
                <a:latin typeface="Hiragino Sans GB"/>
                <a:ea typeface="Hiragino Sans GB"/>
                <a:cs typeface="Hiragino Sans GB"/>
              </a:rPr>
              <a:t>用户 / 商户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F399EC-64C8-40AA-BE6E-64956104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发起购买、调用模型、查询余额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6CA165-0FFD-44C9-932B-F2FBC6DC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1FD6F9-5237-4F67-AF89-865E8392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00250"/>
            <a:ext cx="2133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E8"/>
          </a:solidFill>
          <a:ln xmlns:a="http://schemas.openxmlformats.org/drawingml/2006/main" w="9525">
            <a:solidFill>
              <a:srgbClr val="0E6B6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88611D-FD07-4118-986A-4BABB9ED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133600"/>
            <a:ext cx="1828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6B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E6B67"/>
                </a:solidFill>
                <a:latin typeface="Hiragino Sans GB"/>
                <a:ea typeface="Hiragino Sans GB"/>
                <a:cs typeface="Hiragino Sans GB"/>
              </a:rPr>
              <a:t>Netstars X402 Gateway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4E95D1-0183-4D1B-9F91-0A44AF2D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1935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402 解析、支付请求、状态回调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AD88FA-5FC2-48C5-873E-ED181F51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1455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B64C16-B5DF-466D-A4B6-7AF2B540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62350"/>
            <a:ext cx="2133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DC"/>
          </a:solidFill>
          <a:ln xmlns:a="http://schemas.openxmlformats.org/drawingml/2006/main" w="9525">
            <a:solidFill>
              <a:srgbClr val="4C7C5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0856E6-C690-41B5-9401-C8B007AF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695700"/>
            <a:ext cx="1828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7C5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4C7C59"/>
                </a:solidFill>
                <a:latin typeface="Hiragino Sans GB"/>
                <a:ea typeface="Hiragino Sans GB"/>
                <a:cs typeface="Hiragino Sans GB"/>
              </a:rPr>
              <a:t>Netstars Token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742B1E-4736-4FE1-BECF-0A7129F3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98145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充值、余额、扣减、发票、结算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1D8089-07F7-4B9A-B9E2-1E8C5192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7665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E7DF68-9F92-44BD-822B-BF2E6F0E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81300"/>
            <a:ext cx="2133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1B8"/>
          </a:solidFill>
          <a:ln xmlns:a="http://schemas.openxmlformats.org/drawingml/2006/main" w="9525">
            <a:solidFill>
              <a:srgbClr val="C59A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BC9FA6-0450-49D4-9F01-1A474B3F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14650"/>
            <a:ext cx="1828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59A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C59A3D"/>
                </a:solidFill>
                <a:latin typeface="Hiragino Sans GB"/>
                <a:ea typeface="Hiragino Sans GB"/>
                <a:cs typeface="Hiragino Sans GB"/>
              </a:rPr>
              <a:t>Wea Japan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386E7F-8938-46CE-9FFA-5EC2489B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0040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链上支付执行方，连接 Solana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404144-8608-4B93-8978-F8130478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9560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FE172E-277B-47B0-B5C7-DA021072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00250"/>
            <a:ext cx="2133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0F2"/>
          </a:solidFill>
          <a:ln xmlns:a="http://schemas.openxmlformats.org/drawingml/2006/main" w="9525">
            <a:solidFill>
              <a:srgbClr val="5F5C9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62C904-C7B6-4016-A1D3-41576F48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33600"/>
            <a:ext cx="1828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5C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F5C9B"/>
                </a:solidFill>
                <a:latin typeface="Hiragino Sans GB"/>
                <a:ea typeface="Hiragino Sans GB"/>
                <a:cs typeface="Hiragino Sans GB"/>
              </a:rPr>
              <a:t>Solana / USDC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4D2ED8-59DC-4948-9966-216F4C57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1935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稳定币支付、交易确认、链上凭证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5448E6-9FC2-4E1F-BE48-ABEE814B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1455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5C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591C13-4DDF-4028-9F4B-11FA6DF8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62350"/>
            <a:ext cx="2133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314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4C5C61-BADC-4435-83A3-8136302C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95700"/>
            <a:ext cx="1828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rPr>
              <a:t>AI Token Providers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DD9D87-57F2-420D-B2FC-0606DCFA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8145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OpenAI / xAI / Google 等授权 Token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E12DE0-691A-4B2B-94E6-07C6E0BA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7665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BE46C3-5281-4FF3-A223-3916A004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90850"/>
            <a:ext cx="3048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6B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761F5A-F58C-4B06-9F0C-9CA20336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28950"/>
            <a:ext cx="2667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E6B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E0A834-CBF2-4317-A4C5-92D48A92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33650"/>
            <a:ext cx="571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5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24CAFC-8F6B-4790-AEDE-10B2F73A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5745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5C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821954-B9D5-4F01-9024-7682EB9A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114800"/>
            <a:ext cx="29527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2743200" y="2495550"/>
            <a:ext cx="228600" cy="685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6B67"/>
            </a:solidFill>
            <a:prstDash val="solid"/>
            <a:tailEnd type="arrow" w="sm" len="sm"/>
          </a:ln>
        </p:spPr>
      </p:cxnSp>
      <p:cxnSp>
        <p:nvCxnSpPr>
          <p:cNvPr id="37" name=""/>
          <p:cNvCxnSpPr>
            <a:stCxn xmlns:a="http://schemas.openxmlformats.org/drawingml/2006/main" id="11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5105400" y="2495550"/>
            <a:ext cx="72390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59A3D"/>
            </a:solidFill>
            <a:prstDash val="solid"/>
            <a:tailEnd type="arrow" w="sm" len="sm"/>
          </a:ln>
        </p:spPr>
      </p:cxnSp>
      <p:cxnSp>
        <p:nvCxnSpPr>
          <p:cNvPr id="38" name=""/>
          <p:cNvCxnSpPr>
            <a:stCxn xmlns:a="http://schemas.openxmlformats.org/drawingml/2006/main" id="1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V="1">
            <a:off x="7962900" y="2495550"/>
            <a:ext cx="20955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5C9B"/>
            </a:solidFill>
            <a:prstDash val="solid"/>
            <a:tailEnd type="arrow" w="sm" len="sm"/>
          </a:ln>
        </p:spPr>
      </p:cxnSp>
      <p:cxnSp>
        <p:nvCxnSpPr>
          <p:cNvPr id="39" name=""/>
          <p:cNvCxnSpPr>
            <a:stCxn xmlns:a="http://schemas.openxmlformats.org/drawingml/2006/main" id="23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 flipV="1">
            <a:off x="6896100" y="2781300"/>
            <a:ext cx="234315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F5C9B"/>
            </a:solidFill>
            <a:prstDash val="dash"/>
            <a:tailEnd type="arrow" w="sm" len="sm"/>
          </a:ln>
        </p:spPr>
      </p:cxnSp>
      <p:cxnSp>
        <p:nvCxnSpPr>
          <p:cNvPr id="40" name=""/>
          <p:cNvCxnSpPr>
            <a:stCxn xmlns:a="http://schemas.openxmlformats.org/drawingml/2006/main" id="19" idx="2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 flipV="1">
            <a:off x="5105400" y="2495550"/>
            <a:ext cx="1790700" cy="1276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59A3D"/>
            </a:solidFill>
            <a:prstDash val="dash"/>
            <a:tailEnd type="arrow" w="sm" len="sm"/>
          </a:ln>
        </p:spPr>
      </p:cxnSp>
      <p:cxnSp>
        <p:nvCxnSpPr>
          <p:cNvPr id="41" name=""/>
          <p:cNvCxnSpPr>
            <a:stCxn xmlns:a="http://schemas.openxmlformats.org/drawingml/2006/main" id="11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4038600" y="2990850"/>
            <a:ext cx="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6B67"/>
            </a:solidFill>
            <a:prstDash val="solid"/>
            <a:tailEnd type="arrow" w="sm" len="sm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5105400" y="4057650"/>
            <a:ext cx="3067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C7C59"/>
            </a:solidFill>
            <a:prstDash val="solid"/>
            <a:tailEnd type="arrow" w="sm" len="sm"/>
          </a:ln>
        </p:spPr>
      </p:cxnSp>
      <p:cxnSp>
        <p:nvCxnSpPr>
          <p:cNvPr id="43" name=""/>
          <p:cNvCxnSpPr>
            <a:stCxn xmlns:a="http://schemas.openxmlformats.org/drawingml/2006/main" id="27" idx="1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 flipV="1">
            <a:off x="1676400" y="3676650"/>
            <a:ext cx="649605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65A4B"/>
            </a:solidFill>
            <a:prstDash val="dash"/>
            <a:tailEnd type="arrow" w="sm" len="sm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4ED508D-2355-42FB-B609-3C8CBF7F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1495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655563-FCD4-48CD-872C-846B89F3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971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商业原则：客户侧只面对 Netstars 的 SDK / API / MCP；链上执行、Token 库存、账务结算被封装在后台服务边界内。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4A3DB06-2156-45CD-93FF-7A84D868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B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B22040-75D7-42CE-83BE-108863DE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B8491"/>
                </a:solidFill>
                <a:latin typeface="Avenir Next"/>
                <a:ea typeface="Avenir Next"/>
                <a:cs typeface="Avenir Next"/>
              </a:rPr>
              <a:t>Source: proposal.md | Internal demo narrative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FDD8097-0A47-469E-A421-870A7171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491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7B8491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7627504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6604E6-450C-43E3-97BF-36B04770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A8DE0-48DA-41D7-A56B-4394E708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69C6E6-8C13-43D5-9227-7EBB9802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A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0F95A0C-DAB3-4AFD-B804-69B6933E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C89F48F-9F15-4CDE-A76D-B99057E5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B6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E6B67"/>
                </a:solidFill>
                <a:latin typeface="Avenir Next"/>
                <a:ea typeface="Avenir Next"/>
                <a:cs typeface="Avenir Next"/>
              </a:rPr>
              <a:t>BUSINESS 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F2E00C-9857-4CC3-9E22-92A47EDD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商户接入流程要像支付产品，而不是像区块链实验。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F4F87-B9EE-42F9-B8F5-981DD743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把客户理解成本压低：一次签约、统一接入、后台自动完成支付、Token 与账务处理。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03E7AF-73B7-44E8-9E9C-2000C94D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11853E-D1AA-4725-88D5-EC3CF72B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商户 /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2393F7-A05F-4F2E-810B-E64BBF4D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524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6EF"/>
          </a:solidFill>
          <a:ln xmlns:a="http://schemas.openxmlformats.org/drawingml/2006/main" w="9525">
            <a:solidFill>
              <a:srgbClr val="DDD2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C77EE8-D9A8-4495-BA56-56C9174E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145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0AF98D-0E0B-4061-BBCC-9BE8F873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526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Netstars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35C19F-F44D-4F34-9C0F-02A46110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19350"/>
            <a:ext cx="2190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6EF"/>
          </a:solidFill>
          <a:ln xmlns:a="http://schemas.openxmlformats.org/drawingml/2006/main" w="9525">
            <a:solidFill>
              <a:srgbClr val="DDD2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B9FC10-6132-4437-B6A6-E38ABF4C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145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C4A81E-5FEF-4D96-89A5-5C06CA05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526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Wea Japan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A855F5-233A-4388-A263-7017C7F7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19350"/>
            <a:ext cx="2190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6EF"/>
          </a:solidFill>
          <a:ln xmlns:a="http://schemas.openxmlformats.org/drawingml/2006/main" w="9525">
            <a:solidFill>
              <a:srgbClr val="DDD2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7766C9-8409-4999-B92F-FEE6365A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145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5C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C74938-C4FB-43A3-A043-03C64637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526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Solana / AI Provider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D49AD1-604A-473A-BEE5-CAFB514B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19350"/>
            <a:ext cx="2190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6EF"/>
          </a:solidFill>
          <a:ln xmlns:a="http://schemas.openxmlformats.org/drawingml/2006/main" w="9525">
            <a:solidFill>
              <a:srgbClr val="DDD2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453502-904B-4885-A5F5-C0343F03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1295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5A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B04F34-CEA6-4751-9F0E-C4D390C4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65A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B65A4B"/>
                </a:solidFill>
                <a:latin typeface="Hiragino Sans GB"/>
                <a:ea typeface="Hiragino Sans GB"/>
                <a:cs typeface="Hiragino Sans GB"/>
              </a:rPr>
              <a:t>1. 接入申请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4679E-AC81-45BF-AA45-BE0CE9A3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商户选择 Agent Commerce 支付 + Token 套餐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8A05DC-8B91-4F71-AEFF-DBE51D57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724150"/>
            <a:ext cx="1295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6B6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47934E-5C5D-43EA-A26B-90B742A3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5750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6B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0E6B67"/>
                </a:solidFill>
                <a:latin typeface="Hiragino Sans GB"/>
                <a:ea typeface="Hiragino Sans GB"/>
                <a:cs typeface="Hiragino Sans GB"/>
              </a:rPr>
              <a:t>2. 开通服务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F0834A-2405-487A-82D0-87AA9B3A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432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创建商户、密钥、钱包映射、Token 账户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75E806-E3EC-48EB-A443-C416225D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752850"/>
            <a:ext cx="1295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6B6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4FBB31-F8D3-4266-85F0-8EF94599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8620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6B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0E6B67"/>
                </a:solidFill>
                <a:latin typeface="Hiragino Sans GB"/>
                <a:ea typeface="Hiragino Sans GB"/>
                <a:cs typeface="Hiragino Sans GB"/>
              </a:rPr>
              <a:t>3. SDK / API / MCP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02E1AB-CF2D-40D9-8935-BFF1A21D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1719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接入余额查询、支付、调用、账单接口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59964C-27B0-4264-AA9F-B1339374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143250"/>
            <a:ext cx="1295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9A3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808033-C940-4702-BA75-8FDE2CA6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7660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59A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C59A3D"/>
                </a:solidFill>
                <a:latin typeface="Hiragino Sans GB"/>
                <a:ea typeface="Hiragino Sans GB"/>
                <a:cs typeface="Hiragino Sans GB"/>
              </a:rPr>
              <a:t>4. 链上执行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582AE2-7AE8-4D94-8D11-D2354CA2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623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USDC 收款、支付确认、结算凭证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34A62A-4D48-4775-BA63-EADC55C3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43250"/>
            <a:ext cx="1295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F5C9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D61CEC-A35F-4FB3-8E27-BAC7E2F5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7660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5C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5F5C9B"/>
                </a:solidFill>
                <a:latin typeface="Hiragino Sans GB"/>
                <a:ea typeface="Hiragino Sans GB"/>
                <a:cs typeface="Hiragino Sans GB"/>
              </a:rPr>
              <a:t>5. 支付确认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D47594-D5A3-49BC-B77C-75DCF54B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623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Solana 交易确认 / AI Provider 授权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44FB78-EA17-4638-BE70-AE3D86C4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800600"/>
            <a:ext cx="1295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C7C5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183FFB-5411-4EA8-9D17-DA832969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3395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C7C5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4C7C59"/>
                </a:solidFill>
                <a:latin typeface="Hiragino Sans GB"/>
                <a:ea typeface="Hiragino Sans GB"/>
                <a:cs typeface="Hiragino Sans GB"/>
              </a:rPr>
              <a:t>6. 运营账务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2828D2-A761-46AD-8327-FC5D1C0F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21970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余额、消耗、发票、结算报表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AF356F-9CB3-40C9-96EA-B3ADF82E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00600"/>
            <a:ext cx="1295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5A4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9D83A2-2DCE-403D-98E7-14620300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65A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B65A4B"/>
                </a:solidFill>
                <a:latin typeface="Hiragino Sans GB"/>
                <a:ea typeface="Hiragino Sans GB"/>
                <a:cs typeface="Hiragino Sans GB"/>
              </a:rPr>
              <a:t>7. 业务复用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494241-09A2-43FB-AF00-3062EA3B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1970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Agent 在多场景复用 Token 支付能力</a:t>
            </a:r>
          </a:p>
        </p:txBody>
      </p:sp>
      <p:cxnSp>
        <p:nvCxnSpPr>
          <p:cNvPr id="41" name=""/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2133600" y="31242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E6B67"/>
            </a:solidFill>
            <a:prstDash val="solid"/>
            <a:tailEnd type="arrow" w="sm" len="sm"/>
          </a:ln>
        </p:spPr>
      </p:cxnSp>
      <p:cxnSp>
        <p:nvCxnSpPr>
          <p:cNvPr id="42" name=""/>
          <p:cNvCxnSpPr>
            <a:stCxn xmlns:a="http://schemas.openxmlformats.org/drawingml/2006/main" id="23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3276600" y="35242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E6B67"/>
            </a:solidFill>
            <a:prstDash val="solid"/>
            <a:tailEnd type="arrow" w="sm" len="sm"/>
          </a:ln>
        </p:spPr>
      </p:cxnSp>
      <p:cxnSp>
        <p:nvCxnSpPr>
          <p:cNvPr id="43" name=""/>
          <p:cNvCxnSpPr>
            <a:stCxn xmlns:a="http://schemas.openxmlformats.org/drawingml/2006/main" id="26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 flipV="1">
            <a:off x="3924300" y="3543300"/>
            <a:ext cx="1352550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59A3D"/>
            </a:solidFill>
            <a:prstDash val="solid"/>
            <a:tailEnd type="arrow" w="sm" len="sm"/>
          </a:ln>
        </p:spPr>
      </p:cxnSp>
      <p:cxnSp>
        <p:nvCxnSpPr>
          <p:cNvPr id="44" name=""/>
          <p:cNvCxnSpPr>
            <a:stCxn xmlns:a="http://schemas.openxmlformats.org/drawingml/2006/main" id="29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6572250" y="3543300"/>
            <a:ext cx="13525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F5C9B"/>
            </a:solidFill>
            <a:prstDash val="solid"/>
            <a:tailEnd type="arrow" w="sm" len="sm"/>
          </a:ln>
        </p:spPr>
      </p:cxnSp>
      <p:cxnSp>
        <p:nvCxnSpPr>
          <p:cNvPr id="45" name=""/>
          <p:cNvCxnSpPr>
            <a:stCxn xmlns:a="http://schemas.openxmlformats.org/drawingml/2006/main" id="32" idx="2"/>
            <a:endCxn xmlns:a="http://schemas.openxmlformats.org/drawingml/2006/main" id="35" idx="3"/>
          </p:cNvCxnSpPr>
          <p:nvPr/>
        </p:nvCxnSpPr>
        <p:spPr>
          <a:xfrm xmlns:a="http://schemas.openxmlformats.org/drawingml/2006/main" flipH="1">
            <a:off x="3924300" y="3943350"/>
            <a:ext cx="4648200" cy="12573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C7C59"/>
            </a:solidFill>
            <a:prstDash val="solid"/>
            <a:tailEnd type="arrow" w="sm" len="sm"/>
          </a:ln>
        </p:spPr>
      </p:cxnSp>
      <p:cxnSp>
        <p:nvCxnSpPr>
          <p:cNvPr id="46" name=""/>
          <p:cNvCxnSpPr>
            <a:stCxn xmlns:a="http://schemas.openxmlformats.org/drawingml/2006/main" id="35" idx="1"/>
            <a:endCxn xmlns:a="http://schemas.openxmlformats.org/drawingml/2006/main" id="38" idx="3"/>
          </p:cNvCxnSpPr>
          <p:nvPr/>
        </p:nvCxnSpPr>
        <p:spPr>
          <a:xfrm xmlns:a="http://schemas.openxmlformats.org/drawingml/2006/main" flipH="1">
            <a:off x="2133600" y="52006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65A4B"/>
            </a:solidFill>
            <a:prstDash val="solid"/>
            <a:tailEnd type="arrow" w="sm" len="sm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2AA8EEE-83DE-488E-AE62-787A4AF1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050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6B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E6B67"/>
                </a:solidFill>
                <a:latin typeface="Hiragino Sans GB"/>
                <a:ea typeface="Hiragino Sans GB"/>
                <a:cs typeface="Hiragino Sans GB"/>
              </a:rPr>
              <a:t>关键输出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75B8B3D-3EC4-4223-9649-2F542739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52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FAA9F99-2F61-43EF-AE33-75C5AE6A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8605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rPr>
              <a:t>商户不用理解链上细节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180059E-5A2F-4C6C-A6CF-E9F23E5C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09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2FAC363-8697-4C8D-8B44-0452279E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432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rPr>
              <a:t>支付与 Token 同账务体系展示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E87BDD9-515F-4D33-AD80-80A446FC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814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3E24B30-EEAA-4556-BED3-524F36F7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7147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rPr>
              <a:t>所有状态可追踪、可查询、可对账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3310E4A-912B-43E8-BB2A-721F5136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71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5C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959CE01-1E8E-4BE9-B6AA-F639D81B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3053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rPr>
              <a:t>未来 X402 模块可并入 Token 系统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28BE0DB-D58B-4B19-B358-F7985A7B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B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DE3E09B-68EC-4542-9E44-478BE5DC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B8491"/>
                </a:solidFill>
                <a:latin typeface="Avenir Next"/>
                <a:ea typeface="Avenir Next"/>
                <a:cs typeface="Avenir Next"/>
              </a:rPr>
              <a:t>Source: proposal.md | Internal demo narrative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3A91307-1EA2-4708-9EEB-5B342800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491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7B8491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7209074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29A42A-CD96-438B-BE0E-817C26B5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305F2A-1BDE-4BC5-B372-422E4B4A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9B98C-AC67-4564-9327-5D425A32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A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81FF1BB-3A3B-4188-A51C-E4F73999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779C5C4-800E-41A9-85AB-F4914A56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B6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E6B67"/>
                </a:solidFill>
                <a:latin typeface="Avenir Next"/>
                <a:ea typeface="Avenir Next"/>
                <a:cs typeface="Avenir Next"/>
              </a:rPr>
              <a:t>PAYMENT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432A54-DAF7-4AEE-BA7E-FD6ADCEB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完整支付流程以 HTTP 402 为入口：访问受保护资源时，Agent 自动完成 USDC 支付并解锁 Token。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504F98-9842-4ED7-AB3C-B66B04F9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171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5A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2E0F74-4ED1-40CA-8AAF-77BE0105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65A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B65A4B"/>
                </a:solidFill>
                <a:latin typeface="Hiragino Sans GB"/>
                <a:ea typeface="Hiragino Sans GB"/>
                <a:cs typeface="Hiragino Sans GB"/>
              </a:rPr>
              <a:t>1. Agent 请求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FC4D8D-6293-40CB-951B-074FF62D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1409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购买 Token 或访问付费资源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449B23-340E-48E3-BC61-646A52BC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192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E8"/>
          </a:solidFill>
          <a:ln xmlns:a="http://schemas.openxmlformats.org/drawingml/2006/main" w="9525">
            <a:solidFill>
              <a:srgbClr val="0E6B6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839A95-0D41-48E1-B7E7-99616130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146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6B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E6B67"/>
                </a:solidFill>
                <a:latin typeface="Hiragino Sans GB"/>
                <a:ea typeface="Hiragino Sans GB"/>
                <a:cs typeface="Hiragino Sans GB"/>
              </a:rPr>
              <a:t>2. 402 响应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1D1ADD-C2B0-4847-AFA9-8D9D94E7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00350"/>
            <a:ext cx="161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Netstars 返回支付要求、金额、资产、接收方与有效期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F2FB13-5822-473B-B14F-51EEF5AE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81250"/>
            <a:ext cx="192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1B8"/>
          </a:solidFill>
          <a:ln xmlns:a="http://schemas.openxmlformats.org/drawingml/2006/main" w="9525">
            <a:solidFill>
              <a:srgbClr val="C59A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2B6F19-B46A-457A-BA85-490E6C15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146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59A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C59A3D"/>
                </a:solidFill>
                <a:latin typeface="Hiragino Sans GB"/>
                <a:ea typeface="Hiragino Sans GB"/>
                <a:cs typeface="Hiragino Sans GB"/>
              </a:rPr>
              <a:t>3. USDC 支付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85D95D-27B4-4221-A577-2A62289B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00350"/>
            <a:ext cx="161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Agent 签名后由 Wea Japan 执行 Solana 交易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0DAC55-4A17-4075-850B-AFEAA85E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81250"/>
            <a:ext cx="171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0F2"/>
          </a:solidFill>
          <a:ln xmlns:a="http://schemas.openxmlformats.org/drawingml/2006/main" w="9525">
            <a:solidFill>
              <a:srgbClr val="5F5C9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E176E7-AB06-4264-BF67-5BDACCA6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1460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5C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F5C9B"/>
                </a:solidFill>
                <a:latin typeface="Hiragino Sans GB"/>
                <a:ea typeface="Hiragino Sans GB"/>
                <a:cs typeface="Hiragino Sans GB"/>
              </a:rPr>
              <a:t>4. 状态回调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DC9A38-66BD-45EE-A82D-DCFFAF09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00350"/>
            <a:ext cx="1409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链上确认后回传支付结果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32745C-3804-4B89-A0B7-C4326232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81250"/>
            <a:ext cx="1619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DC"/>
          </a:solidFill>
          <a:ln xmlns:a="http://schemas.openxmlformats.org/drawingml/2006/main" w="9525">
            <a:solidFill>
              <a:srgbClr val="4C7C5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93BE45-D7FB-4185-A878-C119587C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514600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7C5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4C7C59"/>
                </a:solidFill>
                <a:latin typeface="Hiragino Sans GB"/>
                <a:ea typeface="Hiragino Sans GB"/>
                <a:cs typeface="Hiragino Sans GB"/>
              </a:rPr>
              <a:t>5. Token 入账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5FBB7B-14CC-4045-81FD-D83659D6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800350"/>
            <a:ext cx="1314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余额增加，访问解锁，开始计费</a:t>
            </a:r>
          </a:p>
        </p:txBody>
      </p:sp>
      <p:cxnSp>
        <p:nvCxnSpPr>
          <p:cNvPr id="22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362200" y="28765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6B67"/>
            </a:solidFill>
            <a:prstDash val="solid"/>
            <a:tailEnd type="arrow" w="sm" len="sm"/>
          </a:ln>
        </p:spPr>
      </p:cxnSp>
      <p:cxnSp>
        <p:nvCxnSpPr>
          <p:cNvPr id="23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781550" y="28765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59A3D"/>
            </a:solidFill>
            <a:prstDash val="solid"/>
            <a:tailEnd type="arrow" w="sm" len="sm"/>
          </a:ln>
        </p:spPr>
      </p:cxnSp>
      <p:cxnSp>
        <p:nvCxnSpPr>
          <p:cNvPr id="24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200900" y="28765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5C9B"/>
            </a:solidFill>
            <a:prstDash val="solid"/>
            <a:tailEnd type="arrow" w="sm" len="sm"/>
          </a:ln>
        </p:spPr>
      </p:cxnSp>
      <p:cxnSp>
        <p:nvCxnSpPr>
          <p:cNvPr id="25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410700" y="28765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C7C59"/>
            </a:solidFill>
            <a:prstDash val="solid"/>
            <a:tailEnd type="arrow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5F1112-9002-41CD-94CA-E7F7CFB1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96583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BF6"/>
          </a:solidFill>
          <a:ln xmlns:a="http://schemas.openxmlformats.org/drawingml/2006/main" w="9525">
            <a:solidFill>
              <a:srgbClr val="D6CCB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836D44-A863-4DCF-B91F-AC2E5882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243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6B6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E6B67"/>
                </a:solidFill>
                <a:latin typeface="Avenir Next"/>
                <a:ea typeface="Avenir Next"/>
                <a:cs typeface="Avenir Next"/>
              </a:rPr>
              <a:t>Payment Required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3F5770-9B58-4E8B-B59D-723E06CF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24350"/>
            <a:ext cx="657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rPr>
              <a:t>金额、USDC、链、接收方、nonce、过期时间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9D856D-3ED3-4908-9CCE-CBB58A53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101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8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0BED7A-E34E-4A00-84FB-6AD88870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672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59A3D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C59A3D"/>
                </a:solidFill>
                <a:latin typeface="Avenir Next"/>
                <a:ea typeface="Avenir Next"/>
                <a:cs typeface="Avenir Next"/>
              </a:rPr>
              <a:t>Payment Proof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6BDB86-A660-46E9-BD28-F2E44BE1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67250"/>
            <a:ext cx="657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rPr>
              <a:t>签名交易、交易哈希、商户订单、支付上下文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B8654F-0C42-4661-A884-DA81AFCF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8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632B4E-0BE8-4596-B5A1-A20656DE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101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C7C59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4C7C59"/>
                </a:solidFill>
                <a:latin typeface="Avenir Next"/>
                <a:ea typeface="Avenir Next"/>
                <a:cs typeface="Avenir Next"/>
              </a:rPr>
              <a:t>Settlement Record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A90DEB-1C39-4577-8CDA-697DA98D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10150"/>
            <a:ext cx="657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rPr>
              <a:t>链上凭证、Netstars 订单、Token 入账流水、发票基础数据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B005C5-70B3-418D-B941-689B87EF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57850"/>
            <a:ext cx="885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经营层关注点：支付链路可自动化，但每一步都要保留状态、凭证和失败处理，才能成为商户服务。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130F10-85EB-4466-91C7-18CD9E30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B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A5066C-3123-4199-A509-7B854615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B8491"/>
                </a:solidFill>
                <a:latin typeface="Avenir Next"/>
                <a:ea typeface="Avenir Next"/>
                <a:cs typeface="Avenir Next"/>
              </a:rPr>
              <a:t>Source: proposal.md | Internal demo narrative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95E7C9-7D69-416D-8F88-58C43637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491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7B8491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3524997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162AEF-49D7-4DC3-8C63-22DDB020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745E5-983B-4718-8A9A-024258C2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56A4A5-45E8-4B43-BB7C-3D6213F7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A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8650F78-1E28-4D63-BFFD-9CB57694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C2D6EE4-DE66-42F3-BC66-97A85031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B6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E6B67"/>
                </a:solidFill>
                <a:latin typeface="Avenir Next"/>
                <a:ea typeface="Avenir Next"/>
                <a:cs typeface="Avenir Next"/>
              </a:rPr>
              <a:t>TOKEN PURCHASE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2A64F2-1949-42F3-AA6C-9E644354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Token 购买不是一次充值按钮，而是一套余额、库存、状态与账务联动。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59C4A-7133-41CF-8090-82DE0BF3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35814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3BF65F-4B9A-4AED-BBE9-20CE555E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6B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0E6B67"/>
                </a:solidFill>
                <a:latin typeface="Hiragino Sans GB"/>
                <a:ea typeface="Hiragino Sans GB"/>
                <a:cs typeface="Hiragino Sans GB"/>
              </a:rPr>
              <a:t>Token 套餐示例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B7024E-DBFC-4AEF-91D9-1F0FA317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Trial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C3F9AA-38BA-490D-B00D-70C436BC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8605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43147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43147"/>
                </a:solidFill>
                <a:latin typeface="Avenir Next"/>
                <a:ea typeface="Avenir Next"/>
                <a:cs typeface="Avenir Next"/>
              </a:rPr>
              <a:t>1,000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AA0F8B-197E-4F51-96DA-F819561D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33675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AI Token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93E541-C481-429D-A2C4-2A74C5F6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低门槛试用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CF149D-C463-48B0-A7F5-B8F242B9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A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F41BD6-E843-4114-BA2D-1A4D2A8A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Growth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DD2634-778D-452D-BED6-9BE53935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290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C59A3D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C59A3D"/>
                </a:solidFill>
                <a:latin typeface="Avenir Next"/>
                <a:ea typeface="Avenir Next"/>
                <a:cs typeface="Avenir Next"/>
              </a:rPr>
              <a:t>10,000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524D21-BCEB-4B99-9D5F-02ACE963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76625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AI Token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7242BA-A355-41D4-81D0-3C3F286B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Demo 默认购买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BF42C9-88D4-4F89-8AD7-2B1FE731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A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B20F45-4E8E-4A4E-9358-AC535099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Enterprise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B2F4F0-079B-4931-93A7-02DC1266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7195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43147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43147"/>
                </a:solidFill>
                <a:latin typeface="Avenir Next"/>
                <a:ea typeface="Avenir Next"/>
                <a:cs typeface="Avenir Next"/>
              </a:rPr>
              <a:t>100,000+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86A432-A194-4FC0-BAF2-F2E0CE67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219575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AI Token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23CDF6-7831-4900-B009-909A9151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商户批量运营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7AE25F-A6DE-466F-B721-C40CB8FB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38350"/>
            <a:ext cx="61341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BF6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09A0C4-ACFB-4C80-A493-8F90FFF6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669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6B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0E6B67"/>
                </a:solidFill>
                <a:latin typeface="Hiragino Sans GB"/>
                <a:ea typeface="Hiragino Sans GB"/>
                <a:cs typeface="Hiragino Sans GB"/>
              </a:rPr>
              <a:t>状态联动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DAA6D7-86B3-4762-AB15-A1FD08B4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28950"/>
            <a:ext cx="914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5A4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0011B6-8ED5-419E-B902-2D823297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62300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5A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B65A4B"/>
                </a:solidFill>
                <a:latin typeface="Hiragino Sans GB"/>
                <a:ea typeface="Hiragino Sans GB"/>
                <a:cs typeface="Hiragino Sans GB"/>
              </a:rPr>
              <a:t>订单创建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1BD40F-28C4-4147-ABBE-B65D0A5C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4480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merchant_order_id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1E7FC2-A176-4622-B21E-D7C0630B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28950"/>
            <a:ext cx="914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9A3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EFE7C9-7EF1-45A2-B2FB-B755D48F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62300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59A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C59A3D"/>
                </a:solidFill>
                <a:latin typeface="Hiragino Sans GB"/>
                <a:ea typeface="Hiragino Sans GB"/>
                <a:cs typeface="Hiragino Sans GB"/>
              </a:rPr>
              <a:t>支付处理中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CD9DEF-E6BE-44FF-872B-062AC5F5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480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x402_payment_intent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A220C2-6F17-4615-BA6D-87CD647F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28950"/>
            <a:ext cx="914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F5C9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5E2760-9F3C-4BF1-B3F9-53876F91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62300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5C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F5C9B"/>
                </a:solidFill>
                <a:latin typeface="Hiragino Sans GB"/>
                <a:ea typeface="Hiragino Sans GB"/>
                <a:cs typeface="Hiragino Sans GB"/>
              </a:rPr>
              <a:t>链上确认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00F6B3-374F-41BC-85D6-F4E8F0B7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480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solana_tx_hash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0EFCEF-D67E-487A-99CF-339E18D4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28950"/>
            <a:ext cx="914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C7C5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CBCEEC-3A3F-4EFE-BB33-5FAE3B16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62300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7C5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4C7C59"/>
                </a:solidFill>
                <a:latin typeface="Hiragino Sans GB"/>
                <a:ea typeface="Hiragino Sans GB"/>
                <a:cs typeface="Hiragino Sans GB"/>
              </a:rPr>
              <a:t>Token 入账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FFEC6D-C076-4816-B0AD-25084D1B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480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ledger_credit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187B97-AA72-46C9-93C7-8F88B8A7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28950"/>
            <a:ext cx="914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6B6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B6A794-71E4-4045-A9AF-A1BE4FCF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62300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B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0E6B67"/>
                </a:solidFill>
                <a:latin typeface="Hiragino Sans GB"/>
                <a:ea typeface="Hiragino Sans GB"/>
                <a:cs typeface="Hiragino Sans GB"/>
              </a:rPr>
              <a:t>发票准备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A802A2-1828-4981-8B75-6E25537D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480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billing_record</a:t>
            </a:r>
          </a:p>
        </p:txBody>
      </p:sp>
      <p:cxnSp>
        <p:nvCxnSpPr>
          <p:cNvPr id="40" name=""/>
          <p:cNvCxnSpPr>
            <a:stCxn xmlns:a="http://schemas.openxmlformats.org/drawingml/2006/main" id="25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5867400" y="34480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59A3D"/>
            </a:solidFill>
            <a:prstDash val="solid"/>
            <a:tailEnd type="arrow" w="sm" len="sm"/>
          </a:ln>
        </p:spPr>
      </p:cxnSp>
      <p:cxnSp>
        <p:nvCxnSpPr>
          <p:cNvPr id="41" name=""/>
          <p:cNvCxnSpPr>
            <a:stCxn xmlns:a="http://schemas.openxmlformats.org/drawingml/2006/main" id="28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6972300" y="34480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F5C9B"/>
            </a:solidFill>
            <a:prstDash val="solid"/>
            <a:tailEnd type="arrow" w="sm" len="sm"/>
          </a:ln>
        </p:spPr>
      </p:cxnSp>
      <p:cxnSp>
        <p:nvCxnSpPr>
          <p:cNvPr id="42" name=""/>
          <p:cNvCxnSpPr>
            <a:stCxn xmlns:a="http://schemas.openxmlformats.org/drawingml/2006/main" id="31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8077200" y="34480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C7C59"/>
            </a:solidFill>
            <a:prstDash val="solid"/>
            <a:tailEnd type="arrow" w="sm" len="sm"/>
          </a:ln>
        </p:spPr>
      </p:cxnSp>
      <p:cxnSp>
        <p:nvCxnSpPr>
          <p:cNvPr id="43" name=""/>
          <p:cNvCxnSpPr>
            <a:stCxn xmlns:a="http://schemas.openxmlformats.org/drawingml/2006/main" id="34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9182100" y="34480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E6B67"/>
            </a:solidFill>
            <a:prstDash val="solid"/>
            <a:tailEnd type="arrow" w="sm" len="sm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96301C-C2D1-4CD3-A5F6-16F35915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862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Token 账本字段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6A4504E-7AEC-4AAC-BF85-D215A07E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10100"/>
            <a:ext cx="10858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9ECE8"/>
          </a:solidFill>
          <a:ln xmlns:a="http://schemas.openxmlformats.org/drawingml/2006/main" w="9525">
            <a:solidFill>
              <a:srgbClr val="D3CAB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3729560-10C7-4543-BDA2-BE71905C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66725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E6B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0E6B67"/>
                </a:solidFill>
                <a:latin typeface="Hiragino Sans GB"/>
                <a:ea typeface="Hiragino Sans GB"/>
                <a:cs typeface="Hiragino Sans GB"/>
              </a:rPr>
              <a:t>余额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D17635-47B7-4122-92A1-8DCD74AF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10100"/>
            <a:ext cx="10858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9ECE8"/>
          </a:solidFill>
          <a:ln xmlns:a="http://schemas.openxmlformats.org/drawingml/2006/main" w="9525">
            <a:solidFill>
              <a:srgbClr val="D3CAB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C7778C5-210E-4741-90D2-7D181D00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6725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E6B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0E6B67"/>
                </a:solidFill>
                <a:latin typeface="Hiragino Sans GB"/>
                <a:ea typeface="Hiragino Sans GB"/>
                <a:cs typeface="Hiragino Sans GB"/>
              </a:rPr>
              <a:t>冻结额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8F47ECB-5834-4725-B4A1-BEACB819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10100"/>
            <a:ext cx="10858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9ECE8"/>
          </a:solidFill>
          <a:ln xmlns:a="http://schemas.openxmlformats.org/drawingml/2006/main" w="9525">
            <a:solidFill>
              <a:srgbClr val="D3CAB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0D3733F-F8CB-4B6E-B54F-B22D9C6E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6725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E6B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0E6B67"/>
                </a:solidFill>
                <a:latin typeface="Hiragino Sans GB"/>
                <a:ea typeface="Hiragino Sans GB"/>
                <a:cs typeface="Hiragino Sans GB"/>
              </a:rPr>
              <a:t>本次入账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4B3182B-84F0-4410-A9E3-0ADD59E7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610100"/>
            <a:ext cx="10858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E9DF"/>
          </a:solidFill>
          <a:ln xmlns:a="http://schemas.openxmlformats.org/drawingml/2006/main" w="9525">
            <a:solidFill>
              <a:srgbClr val="D3CAB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5BABA3C-F212-4CDE-B2F5-6C038598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6725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rPr>
              <a:t>消耗流水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ABF1288-BC5B-415C-B79A-9900C04E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10150"/>
            <a:ext cx="10858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E9DF"/>
          </a:solidFill>
          <a:ln xmlns:a="http://schemas.openxmlformats.org/drawingml/2006/main" w="9525">
            <a:solidFill>
              <a:srgbClr val="D3CAB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E434E64-658D-45A7-AD78-5C4A8742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06730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rPr>
              <a:t>订单号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D4BAB0C-43ED-447B-A5A5-91F988CD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10858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E9DF"/>
          </a:solidFill>
          <a:ln xmlns:a="http://schemas.openxmlformats.org/drawingml/2006/main" w="9525">
            <a:solidFill>
              <a:srgbClr val="D3CAB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68DC998-A46C-4511-B857-D5E1D945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rPr>
              <a:t>交易哈希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31CAC8D-F216-4E1C-94C5-1BE59B3F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10150"/>
            <a:ext cx="10858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E9DF"/>
          </a:solidFill>
          <a:ln xmlns:a="http://schemas.openxmlformats.org/drawingml/2006/main" w="9525">
            <a:solidFill>
              <a:srgbClr val="D3CAB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0505083-51A0-48DB-9DE9-6A96BBF1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6730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rPr>
              <a:t>发票状态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457C674-FD8C-46E7-AA95-E50557B0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885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设计原则：支付结果只改变账本，不直接散落到业务页面；所有 Token 变化都可回放、可对账。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8ECD830-7CBC-4847-81D1-55D0EFA9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B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FB601DF-5F69-4884-8FDE-E3E51376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B8491"/>
                </a:solidFill>
                <a:latin typeface="Avenir Next"/>
                <a:ea typeface="Avenir Next"/>
                <a:cs typeface="Avenir Next"/>
              </a:rPr>
              <a:t>Source: proposal.md | Internal demo narrative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9DA6CFD-6D97-4AC4-A9E6-A371DF2F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491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7B8491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9060271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8F6EED-D238-4C13-A25C-AB7EBFF9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A8254-6613-4E07-AF71-6851D268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2119A-9A42-47C9-9D2C-B98F4236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A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8B64426-9566-4E6E-9643-2CBEE87A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D32A7B0-38FB-48DB-B397-709CA01D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B6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E6B67"/>
                </a:solidFill>
                <a:latin typeface="Avenir Next"/>
                <a:ea typeface="Avenir Next"/>
                <a:cs typeface="Avenir Next"/>
              </a:rPr>
              <a:t>TOKEN USAGE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C96E7-E76A-4848-B4C1-E43D48D4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Token 的使用方式要同时支持 Agent 自动调用和商户后台管理。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8D356-B06F-4F71-972F-56A50ED6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2952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E6B6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03E32D-4D73-4266-AD87-AF166553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857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E6B67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0E6B67"/>
                </a:solidFill>
                <a:latin typeface="Avenir Next"/>
                <a:ea typeface="Avenir Next"/>
                <a:cs typeface="Avenir Next"/>
              </a:rPr>
              <a:t>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FC5E4B-182D-44A5-8F16-85B87AD2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2457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rPr>
              <a:t>适合服务端系统调用：余额查询、支付创建、Token 扣减、账单查询。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5BAAE-2744-41F2-B6DC-D0BE1616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14550"/>
            <a:ext cx="2952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59A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5D928F-6131-4FB5-8DB8-047FC9D9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05050"/>
            <a:ext cx="857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59A3D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C59A3D"/>
                </a:solidFill>
                <a:latin typeface="Avenir Next"/>
                <a:ea typeface="Avenir Next"/>
                <a:cs typeface="Avenir Next"/>
              </a:rPr>
              <a:t>SDK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47E4DE-D740-4E76-95B4-EAB762A7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24150"/>
            <a:ext cx="2457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rPr>
              <a:t>适合商户快速接入：封装签名、重试、支付状态监听和错误处理。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CA7451-392B-4067-B6DD-74874B86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14550"/>
            <a:ext cx="2952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F5C9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F1BF29-4443-4328-BDFB-685052CB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05050"/>
            <a:ext cx="857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F5C9B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5F5C9B"/>
                </a:solidFill>
                <a:latin typeface="Avenir Next"/>
                <a:ea typeface="Avenir Next"/>
                <a:cs typeface="Avenir Next"/>
              </a:rPr>
              <a:t>MCP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351FD6-8F2E-4F83-8109-6FA006B9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24150"/>
            <a:ext cx="2457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rPr>
              <a:t>适合 Agent 工具化调用：让 AI Agent 直接发现、购买、查询与消耗 Token。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C1F919-0033-4ECD-9BA3-EB419E5E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1485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7B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6066AD-C4B5-4788-9543-F4B51FE1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71950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Authorize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D2D686-ACC5-455D-8D1B-5F757718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5770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检查商户、密钥、余额与限额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33DFA9-E9F5-4570-B973-184798D8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38600"/>
            <a:ext cx="1485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7B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621DDE-ECE5-40D9-B3DC-D3F5A3B6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71950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Call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C658BC-A48B-43C7-B220-99651FFC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5770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调用授权模型服务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0334B7-B5E2-4798-BB21-16BA66BF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38600"/>
            <a:ext cx="1485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1B8"/>
          </a:solidFill>
          <a:ln xmlns:a="http://schemas.openxmlformats.org/drawingml/2006/main" w="9525">
            <a:solidFill>
              <a:srgbClr val="C59A3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E8AD34-813D-41AB-9293-F3ED2D93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171950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59A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C59A3D"/>
                </a:solidFill>
                <a:latin typeface="Hiragino Sans GB"/>
                <a:ea typeface="Hiragino Sans GB"/>
                <a:cs typeface="Hiragino Sans GB"/>
              </a:rPr>
              <a:t>Meter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F99514-0CCA-4D03-A44F-A964010A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45770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按模型、输入、输出记录消耗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B403E1-533B-479F-BF5D-6C179C4D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38600"/>
            <a:ext cx="1485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7B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6521C7-D007-4BFA-A8A4-EC3509EF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71950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Deduct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6E5DE8-D7D3-4556-BCDB-0D8FD408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5770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从 Token 账本扣减并写入流水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CE23C7-C3DD-4B4F-A5B3-DAD8FF90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38600"/>
            <a:ext cx="1485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7B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01DA82-1C48-462C-8A84-742DA95E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171950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Notify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83BCF7-FC82-47F1-80AE-66F8AB6B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45770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返回业务结果和剩余额度</a:t>
            </a:r>
          </a:p>
        </p:txBody>
      </p:sp>
      <p:cxnSp>
        <p:nvCxnSpPr>
          <p:cNvPr id="31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2438400" y="44481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E6B67"/>
            </a:solidFill>
            <a:prstDash val="solid"/>
            <a:tailEnd type="arrow" w="sm" len="sm"/>
          </a:ln>
        </p:spPr>
      </p:cxnSp>
      <p:cxnSp>
        <p:nvCxnSpPr>
          <p:cNvPr id="32" name=""/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476750" y="44481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59A3D"/>
            </a:solidFill>
            <a:prstDash val="solid"/>
            <a:tailEnd type="arrow" w="sm" len="sm"/>
          </a:ln>
        </p:spPr>
      </p:cxnSp>
      <p:cxnSp>
        <p:nvCxnSpPr>
          <p:cNvPr id="33" name=""/>
          <p:cNvCxnSpPr>
            <a:stCxn xmlns:a="http://schemas.openxmlformats.org/drawingml/2006/main" id="22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6515100" y="44481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E6B67"/>
            </a:solidFill>
            <a:prstDash val="solid"/>
            <a:tailEnd type="arrow" w="sm" len="sm"/>
          </a:ln>
        </p:spPr>
      </p:cxnSp>
      <p:cxnSp>
        <p:nvCxnSpPr>
          <p:cNvPr id="34" name=""/>
          <p:cNvCxnSpPr>
            <a:stCxn xmlns:a="http://schemas.openxmlformats.org/drawingml/2006/main" id="25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8553450" y="44481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E6B67"/>
            </a:solidFill>
            <a:prstDash val="solid"/>
            <a:tailEnd type="arrow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FC00D4-7152-48BF-8352-BEBBD310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14950"/>
            <a:ext cx="819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386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687386"/>
                </a:solidFill>
                <a:latin typeface="Menlo"/>
                <a:ea typeface="Menlo"/>
                <a:cs typeface="Menlo"/>
              </a:rPr>
              <a:t>/v1/token/balance     /v1/x402/pay     /v1/token/consume     /v1/billing/invoice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3ADC6B-20D9-4E1B-9D32-1B3C12C1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962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4F1B4B-5E02-436A-B052-D96EC84E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53100"/>
            <a:ext cx="885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使用闭环：Token 不只是“卖出去”，还要被安全调用、精确扣减、及时提醒，并沉淀为账单和结算依据。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2ACF4C-86F4-435E-944E-32E263BB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B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0EEFC8-D0C2-4B05-A604-72B6D50F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B8491"/>
                </a:solidFill>
                <a:latin typeface="Avenir Next"/>
                <a:ea typeface="Avenir Next"/>
                <a:cs typeface="Avenir Next"/>
              </a:rPr>
              <a:t>Source: proposal.md | Internal demo narrative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F0A744-7438-4656-AEE7-2CCE73B4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491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7B8491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4588598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B50375-A6A8-4339-A732-01CA8AEB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6E9E88-9929-46CE-B73B-B8D51BC6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4F5766-B154-49BD-AF2E-F031458C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A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FA24D46-D990-45F5-AAAE-61AD1C3E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249DD54-22DE-4188-932E-93013DDD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B6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E6B67"/>
                </a:solidFill>
                <a:latin typeface="Avenir Next"/>
                <a:ea typeface="Avenir Next"/>
                <a:cs typeface="Avenir Next"/>
              </a:rPr>
              <a:t>SECURITY &amp; AUDIT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E6853F-47D4-42B4-82A5-D5DD9415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安全不是附加项：客户侧、网关、链上执行和 Token 账本必须形成可追溯链路。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D943B5-4E05-455A-B5AE-345DE546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8839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65A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CB3EBB-89BA-4FA5-8E16-B133D482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65A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B65A4B"/>
                </a:solidFill>
                <a:latin typeface="Hiragino Sans GB"/>
                <a:ea typeface="Hiragino Sans GB"/>
                <a:cs typeface="Hiragino Sans GB"/>
              </a:rPr>
              <a:t>客户侧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E41724-7EB8-4DF9-8F16-1FC5E7BF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14575"/>
            <a:ext cx="628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rPr>
              <a:t>SDK 签名、密钥轮换、Agent 权限边界、请求 nonce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37FF63-CE9F-4064-B1FB-0E1821FA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33700"/>
            <a:ext cx="8115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BF6"/>
          </a:solidFill>
          <a:ln xmlns:a="http://schemas.openxmlformats.org/drawingml/2006/main" w="11430">
            <a:solidFill>
              <a:srgbClr val="0E6B6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5B2C38-7819-4B43-A164-A28E8C56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861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6B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E6B67"/>
                </a:solidFill>
                <a:latin typeface="Hiragino Sans GB"/>
                <a:ea typeface="Hiragino Sans GB"/>
                <a:cs typeface="Hiragino Sans GB"/>
              </a:rPr>
              <a:t>Netstars Gateway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70D9CE-B9F1-49F4-9D68-C41B156F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95625"/>
            <a:ext cx="556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rPr>
              <a:t>x402 支付请求校验、订单幂等、Webhook 认证、风控规则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D3088-FB0C-4467-9AAC-DAF0CBF0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14750"/>
            <a:ext cx="7391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59A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3CD99B-0573-4531-A872-37EDDC87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671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59A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C59A3D"/>
                </a:solidFill>
                <a:latin typeface="Hiragino Sans GB"/>
                <a:ea typeface="Hiragino Sans GB"/>
                <a:cs typeface="Hiragino Sans GB"/>
              </a:rPr>
              <a:t>Wea / Solana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D4B413-775D-4E1D-94A0-95E09CFB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76675"/>
            <a:ext cx="483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rPr>
              <a:t>USDC 支付执行、交易哈希、链上确认、失败回滚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A207B9-0D88-4701-93D7-13887A97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95800"/>
            <a:ext cx="666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BF6"/>
          </a:solidFill>
          <a:ln xmlns:a="http://schemas.openxmlformats.org/drawingml/2006/main" w="11430">
            <a:solidFill>
              <a:srgbClr val="4C7C5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3C9FBC-8C3D-4557-9137-BEE7352D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6482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7C5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4C7C59"/>
                </a:solidFill>
                <a:latin typeface="Hiragino Sans GB"/>
                <a:ea typeface="Hiragino Sans GB"/>
                <a:cs typeface="Hiragino Sans GB"/>
              </a:rPr>
              <a:t>Token System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858892-0DED-4B14-BEB0-420CB8F9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57725"/>
            <a:ext cx="411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rPr>
              <a:t>余额账本、消耗流水、发票状态、审计报表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A9F77B-7A33-4621-9E6B-A0C124EC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95500"/>
            <a:ext cx="114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DB1C38-35AE-402B-81E6-F61EE40A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3431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1E1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1E1B8"/>
                </a:solidFill>
                <a:latin typeface="Avenir Next"/>
                <a:ea typeface="Avenir Next"/>
                <a:cs typeface="Avenir Next"/>
              </a:rPr>
              <a:t>Audit Trail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E9A751-7887-4512-B3BD-31A6F2DB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838450"/>
            <a:ext cx="5334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04256"/>
          </a:solidFill>
          <a:ln xmlns:a="http://schemas.openxmlformats.org/drawingml/2006/main" w="9525">
            <a:solidFill>
              <a:srgbClr val="5F6E8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15BF40-BA0A-495B-82B1-67599716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87655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订单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19FE63-CF9B-4287-9B54-C1207706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238500"/>
            <a:ext cx="5334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04256"/>
          </a:solidFill>
          <a:ln xmlns:a="http://schemas.openxmlformats.org/drawingml/2006/main" w="9525">
            <a:solidFill>
              <a:srgbClr val="5F6E8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81CCA5-FB76-4BFD-A2C8-43170608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27660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签名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553341-DAAE-4B39-A553-192BD81D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638550"/>
            <a:ext cx="5334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04256"/>
          </a:solidFill>
          <a:ln xmlns:a="http://schemas.openxmlformats.org/drawingml/2006/main" w="9525">
            <a:solidFill>
              <a:srgbClr val="5F6E8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EF8C90-C30B-41C6-B4D5-660C27EB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67665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交易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7C42B4-0663-4D68-B6A6-FBD68BFC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038600"/>
            <a:ext cx="5334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04256"/>
          </a:solidFill>
          <a:ln xmlns:a="http://schemas.openxmlformats.org/drawingml/2006/main" w="9525">
            <a:solidFill>
              <a:srgbClr val="5F6E8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CDF48D-0BF9-4D38-BF15-955BC798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07670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余额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058891-A4FA-4C3E-8B77-6C7A555D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438650"/>
            <a:ext cx="5334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04256"/>
          </a:solidFill>
          <a:ln xmlns:a="http://schemas.openxmlformats.org/drawingml/2006/main" w="9525">
            <a:solidFill>
              <a:srgbClr val="5F6E8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73DB05-6057-4FC2-A54C-D96A90CB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47675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发票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B0ACB5-E005-49CE-B7DC-C02734A6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673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6B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E6B67"/>
                </a:solidFill>
                <a:latin typeface="Hiragino Sans GB"/>
                <a:ea typeface="Hiragino Sans GB"/>
                <a:cs typeface="Hiragino Sans GB"/>
              </a:rPr>
              <a:t>Demo 展示要求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7BC72B-7C21-42CD-AD6B-AF02CEAD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48300"/>
            <a:ext cx="771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至少展示一次失败或过期支付处理：让客户看到 Netstars 不只是“成功收款”，也能管理异常、重试和对账。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6F8A97-1219-4FF4-A67C-1C409D31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B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8A71D2-394E-44E6-8F6A-9811901F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B8491"/>
                </a:solidFill>
                <a:latin typeface="Avenir Next"/>
                <a:ea typeface="Avenir Next"/>
                <a:cs typeface="Avenir Next"/>
              </a:rPr>
              <a:t>Source: proposal.md | Internal demo narrative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36490B-4AAA-48A9-9F17-0A843574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491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7B8491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235547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55D8DB-05AB-4618-B517-4C8907AC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DF6733-1610-466A-A253-31BD3DA5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8A9B7-CEB2-4142-B136-8A4F0D3C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A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84CA291-3D93-4F9B-8D47-2290ABAB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1E8E352-7063-4FFF-BAC2-41D341E6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B6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E6B67"/>
                </a:solidFill>
                <a:latin typeface="Avenir Next"/>
                <a:ea typeface="Avenir Next"/>
                <a:cs typeface="Avenir Next"/>
              </a:rPr>
              <a:t>COMMERCIAL OFFERING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76E94D-C2B5-40E6-B4A7-C0E97ADB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对外销售时，应把能力打包成四层服务，而不是分别销售协议、链和 Token。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F68CB-13A6-44B8-86AF-A5FC2A40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6B6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12D61F-84A6-4B3F-801C-630C4D0A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95525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6B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E6B67"/>
                </a:solidFill>
                <a:latin typeface="Hiragino Sans GB"/>
                <a:ea typeface="Hiragino Sans GB"/>
                <a:cs typeface="Hiragino Sans GB"/>
              </a:rPr>
              <a:t>接入层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5FB7B9-A2EA-427F-BBB6-1731C4F6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2860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SDK / API / MCP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F6EB32-6DC4-47FC-B40F-0506B331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9552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让商户和 Agent 快速接入支付与 Token 能力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7B73C5-8762-457B-95A2-2E1B6F82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76550"/>
            <a:ext cx="7029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BF6"/>
          </a:solidFill>
          <a:ln xmlns:a="http://schemas.openxmlformats.org/drawingml/2006/main" w="13335">
            <a:solidFill>
              <a:srgbClr val="C59A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54F90F-C44B-4D8D-92B5-FE0FA9DA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38475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59A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C59A3D"/>
                </a:solidFill>
                <a:latin typeface="Hiragino Sans GB"/>
                <a:ea typeface="Hiragino Sans GB"/>
                <a:cs typeface="Hiragino Sans GB"/>
              </a:rPr>
              <a:t>支付层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A64490-B8B7-4072-A0F1-F04043C0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289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X402 Gateway + USDC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A3CFEC-C332-4BA8-A4CA-6EA3AB94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38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承接微额、高频、自动化的稳定币支付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89E036-AD39-493E-9932-79B81D70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19500"/>
            <a:ext cx="6819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C7C5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1B92D3-7367-490B-AA4A-C2D8C669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81425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7C5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4C7C59"/>
                </a:solidFill>
                <a:latin typeface="Hiragino Sans GB"/>
                <a:ea typeface="Hiragino Sans GB"/>
                <a:cs typeface="Hiragino Sans GB"/>
              </a:rPr>
              <a:t>运营层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C7F5D7-4093-4382-81B7-C8404542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719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Token System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F2B573-2C58-469B-84F2-B296B486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8142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余额、消耗、套餐、发票、查询、告警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31CC21-36A3-470A-A4F7-5892226B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62450"/>
            <a:ext cx="6610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BF6"/>
          </a:solidFill>
          <a:ln xmlns:a="http://schemas.openxmlformats.org/drawingml/2006/main" w="13335">
            <a:solidFill>
              <a:srgbClr val="5F5C9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AC7A2D-63E0-4AF3-A757-BFBD7924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24375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5C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F5C9B"/>
                </a:solidFill>
                <a:latin typeface="Hiragino Sans GB"/>
                <a:ea typeface="Hiragino Sans GB"/>
                <a:cs typeface="Hiragino Sans GB"/>
              </a:rPr>
              <a:t>结算层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79BEC7-2043-4A97-B4B4-17463C4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14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Wea / Solana Settlement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97B751-E368-4444-BF30-9A53EE16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5243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链上凭证、对账、结算和资金状态管理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C25FBB-72F8-4950-85AF-7696F00B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3812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FC95D5-1A3A-4BFB-80BC-71F58EAA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574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1E1B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F1E1B8"/>
                </a:solidFill>
                <a:latin typeface="Hiragino Sans GB"/>
                <a:ea typeface="Hiragino Sans GB"/>
                <a:cs typeface="Hiragino Sans GB"/>
              </a:rPr>
              <a:t>商业收益点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C3ED0B-3EFB-447F-94B6-58308EF7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57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6C4F79-2F18-41AF-B41F-7E1E24E0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908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支付网关服务费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F9DBCE-50DA-42C4-8FA2-2A95D67D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76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742392-3805-47EF-AA76-27E23BBC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099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Token 销售毛利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AFE4D2-9167-44BC-A3E5-3D56FB2F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95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23901A-2714-4690-AA1C-89C25C97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290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商户 SaaS / 管理费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D1A793-D24D-4ED9-AF0B-AA735D87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14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FAEAA7-FFC4-4F15-AAF3-A3352485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481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结算与对账增值服务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E15EDE-F1B2-49CA-80A7-4FD12142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经营建议：Demo 结束要自然落到“商户可以购买什么服务包”，而不是停留在“看起来可以完成支付”。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2D7F5C-6084-49D0-9023-BD69B3AA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B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596F02-4872-4488-A724-AC8BF8C1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B8491"/>
                </a:solidFill>
                <a:latin typeface="Avenir Next"/>
                <a:ea typeface="Avenir Next"/>
                <a:cs typeface="Avenir Next"/>
              </a:rPr>
              <a:t>Source: proposal.md | Internal demo narrative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F63A74-9957-4B96-B3DB-ABD7970D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491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7B8491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9103005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B8E0CE-05A9-4431-97C6-A3081C50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533A7-C690-4FD3-8519-3780B7F9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A37BE8-7CC4-4931-BC11-796ADD12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A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59914E6-85D1-4691-B91E-82E7FC56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44185DE-F0D4-412F-A875-393AB03B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B6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E6B67"/>
                </a:solidFill>
                <a:latin typeface="Avenir Next"/>
                <a:ea typeface="Avenir Next"/>
                <a:cs typeface="Avenir Next"/>
              </a:rPr>
              <a:t>MANAGEMENT CONSOLE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7D02E3-881A-4FD9-998B-FEC957AC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Token 系统界面是 Demo 的商业化关键：它把支付结果变成客户能管理的资产。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4B138A-96D6-4301-AEA5-B2C608D4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100965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0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900DE-B6F5-4BC8-B9B0-6AB03581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1009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B32996-A52B-41F9-85BF-602DE666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Netstars Token Console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91C9E4-F707-4633-9A1F-8CEA12EA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1455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1E1B8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F1E1B8"/>
                </a:solidFill>
                <a:latin typeface="Avenir Next"/>
                <a:ea typeface="Avenir Next"/>
                <a:cs typeface="Avenir Next"/>
              </a:rPr>
              <a:t>Balance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02114C-5AFA-4A0A-A20E-11DEFFCF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1455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6D0D8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C6D0D8"/>
                </a:solidFill>
                <a:latin typeface="Avenir Next"/>
                <a:ea typeface="Avenir Next"/>
                <a:cs typeface="Avenir Next"/>
              </a:rPr>
              <a:t>Usage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E9969E-C6B0-47C0-A972-EC283CAF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1455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6D0D8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C6D0D8"/>
                </a:solidFill>
                <a:latin typeface="Avenir Next"/>
                <a:ea typeface="Avenir Next"/>
                <a:cs typeface="Avenir Next"/>
              </a:rPr>
              <a:t>Payments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53E545-F275-4F2A-9A94-CF21D9A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1455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6D0D8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C6D0D8"/>
                </a:solidFill>
                <a:latin typeface="Avenir Next"/>
                <a:ea typeface="Avenir Next"/>
                <a:cs typeface="Avenir Next"/>
              </a:rPr>
              <a:t>Billing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D4FE59-A7C6-424A-A790-D590E90D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CB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25664D-905E-4146-8B85-5CC5193F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5750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6B67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0E6B67"/>
                </a:solidFill>
                <a:latin typeface="Avenir Next"/>
                <a:ea typeface="Avenir Next"/>
                <a:cs typeface="Avenir Next"/>
              </a:rPr>
              <a:t>10,000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F082EA-FBCC-420F-9F97-E5DC5336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当前余额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4ADFF0-42CB-4274-B59F-2B615D28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8605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CB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BA49AA-ED42-4903-855D-839054FD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5750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59A3D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C59A3D"/>
                </a:solidFill>
                <a:latin typeface="Avenir Next"/>
                <a:ea typeface="Avenir Next"/>
                <a:cs typeface="Avenir Next"/>
              </a:rPr>
              <a:t>+10,000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A17594-E5A6-45AA-A50F-761B4472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3850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本次购买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E95F81-178A-4B2A-BCCA-02E59527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8605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CB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4CEBA2-38D0-4128-8A9A-91E09D8C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5750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65A4B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B65A4B"/>
                </a:solidFill>
                <a:latin typeface="Avenir Next"/>
                <a:ea typeface="Avenir Next"/>
                <a:cs typeface="Avenir Next"/>
              </a:rPr>
              <a:t>2,380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68E0D1-DD49-46FA-BE86-E04AFD4B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3850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今日消耗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B0F64C-4C6E-4129-B092-1B071CC8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8605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CB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B710B7-405C-48E5-B772-B645C5A8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5750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C7C59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4C7C59"/>
                </a:solidFill>
                <a:latin typeface="Avenir Next"/>
                <a:ea typeface="Avenir Next"/>
                <a:cs typeface="Avenir Next"/>
              </a:rPr>
              <a:t>Paid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FCAB32-9A69-4DA9-BBAE-47D4A4AE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3850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支付状态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A46FE3-2885-4A5A-A946-D3F5E8A3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433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用途分布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0A3D55-93B5-456D-8849-E57C9235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243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rPr>
              <a:t>多语言内容生成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2D6C52-3B4C-499E-AD71-51CEEB7B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352925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F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CF6753-15B6-46D9-87CF-B933E7F8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352925"/>
            <a:ext cx="1898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609B83-24BF-4BCB-9E8F-D8B0EA2E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314825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46%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122BFE-461A-41ED-9899-2923B2A2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rPr>
              <a:t>库存分析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AE2000-1989-4EA3-949C-F1EA0744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657725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F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01B7D7-804C-4310-8519-F411FB5C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657725"/>
            <a:ext cx="12795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2CD667-CCEB-4BD0-AFA6-6B118EA6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619625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31%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209D39-4195-4B66-8F0D-03C6E3D6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rPr>
              <a:t>门店日报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5DF55D-6519-4C33-91F9-E601415B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962525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F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4434CE-67A6-4D0E-9E7E-9F48C11E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962525"/>
            <a:ext cx="9493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5C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4C1C27-DA71-44B8-B73D-2AE69E67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24425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23%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6916A4-F7EA-4609-A414-2CA778D2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433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最近支付与账单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F46871-D866-4C03-BEB9-59E9009A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2435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TX-2401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F2532CF-89C1-4D97-91CC-785EA8E1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243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USDC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081D1D6-150F-4938-8FCA-F009346F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243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E6B67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0E6B67"/>
                </a:solidFill>
                <a:latin typeface="Avenir Next"/>
                <a:ea typeface="Avenir Next"/>
                <a:cs typeface="Avenir Next"/>
              </a:rPr>
              <a:t>x402 paid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DA9FAC-C867-45D8-88CE-E19E20B1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3243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Token credited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C7AF2EC-4EF4-4540-B2EE-4548DD92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57200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8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81D482D-11DD-492C-BD2C-44E03A20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6863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TX-2402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03E1AE-ECD6-4F31-A5A1-8834B80C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863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AI call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EA459F0-8C40-4267-99A0-C00893A0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863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E6B67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0E6B67"/>
                </a:solidFill>
                <a:latin typeface="Avenir Next"/>
                <a:ea typeface="Avenir Next"/>
                <a:cs typeface="Avenir Next"/>
              </a:rPr>
              <a:t>2,380 used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BC8A0A4-8DD5-448B-A731-5B4AC762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6863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Invoice ready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85A2ED8-561E-46D7-8CF4-7650297B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9339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8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078F2F5-3BFE-472B-AD6E-4EB16C57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04825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TX-2403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8A1E9AA-59E9-446C-A58C-275A4966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482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Auto alert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E5A8F98-085F-478E-BA83-67453A87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482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E6B67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0E6B67"/>
                </a:solidFill>
                <a:latin typeface="Avenir Next"/>
                <a:ea typeface="Avenir Next"/>
                <a:cs typeface="Avenir Next"/>
              </a:rPr>
              <a:t>balance &lt; 20%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43CDC2B-92B0-4C59-B8C4-3D647066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0482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Recharge suggested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122856C-8151-41A5-8F70-34705E82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817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必须展示：余额、购买、消耗、支付状态、交易哈希、发票和结算状态。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139CC97-3F78-41A9-8717-E5028B21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B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B75B656-85A5-4B60-8E0B-92C3D50C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B8491"/>
                </a:solidFill>
                <a:latin typeface="Avenir Next"/>
                <a:ea typeface="Avenir Next"/>
                <a:cs typeface="Avenir Next"/>
              </a:rPr>
              <a:t>Source: proposal.md | Internal demo narrative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F9B3B25-0E8C-4729-8780-1F9C58F3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491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7B8491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4151528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13B497-B259-4D56-A090-EFAF6EB8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628C3-C9CE-4568-8654-9C329218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03EAA-62A4-4633-9EF6-F956566E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A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96A95A0-4F67-4E01-ADF1-33ABD3C4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BA6FD86-AEFD-45F6-8F5C-B63A0251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B6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E6B67"/>
                </a:solidFill>
                <a:latin typeface="Avenir Next"/>
                <a:ea typeface="Avenir Next"/>
                <a:cs typeface="Avenir Next"/>
              </a:rPr>
              <a:t>ARCHITECTURE &amp; ROADMAP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196564-C514-4A43-8FB4-7C272B76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短期保持模块边界，长期把 x402 能力并入 Token 系统。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984DBA-FCC5-4049-8372-AB7C07E3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这样既能快速做 Demo，又能避免未来产品化时支付、Token 和账务互相缠绕。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2F8AC-B145-4642-B260-0FB93123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743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6B6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1BA6FA-FF89-4F90-BF29-8F9564AC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6B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E6B67"/>
                </a:solidFill>
                <a:latin typeface="Hiragino Sans GB"/>
                <a:ea typeface="Hiragino Sans GB"/>
                <a:cs typeface="Hiragino Sans GB"/>
              </a:rPr>
              <a:t>当前 Demo 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3BF3F8-942A-4865-9D94-170761D1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24384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X402 Gateway</a:t>
            </a:r>
          </a:p>
          <a:p xmlns:a="http://schemas.openxmlformats.org/drawingml/2006/main">
            <a:pPr algn="l">
              <a:defRPr sz="112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Token System</a:t>
            </a:r>
          </a:p>
          <a:p xmlns:a="http://schemas.openxmlformats.org/drawingml/2006/main">
            <a:pPr algn="l">
              <a:defRPr sz="112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Wea Connector</a:t>
            </a:r>
          </a:p>
          <a:p xmlns:a="http://schemas.openxmlformats.org/drawingml/2006/main">
            <a:pPr algn="l">
              <a:defRPr sz="112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SDK / API / MCP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模块隔离，便于快速验证和替换。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AB368B-5B43-4033-8273-11691A76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2743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1B8"/>
          </a:solidFill>
          <a:ln xmlns:a="http://schemas.openxmlformats.org/drawingml/2006/main" w="9525">
            <a:solidFill>
              <a:srgbClr val="C59A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10CE4D-9645-49E9-B89C-E9D5D950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14600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59A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C59A3D"/>
                </a:solidFill>
                <a:latin typeface="Hiragino Sans GB"/>
                <a:ea typeface="Hiragino Sans GB"/>
                <a:cs typeface="Hiragino Sans GB"/>
              </a:rPr>
              <a:t>产品化阶段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67D133-8AC5-42AD-8C30-6A74B319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00350"/>
            <a:ext cx="24384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统一商户账户</a:t>
            </a:r>
          </a:p>
          <a:p xmlns:a="http://schemas.openxmlformats.org/drawingml/2006/main">
            <a:pPr algn="l">
              <a:defRPr sz="112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统一支付订单</a:t>
            </a:r>
          </a:p>
          <a:p xmlns:a="http://schemas.openxmlformats.org/drawingml/2006/main">
            <a:pPr algn="l">
              <a:defRPr sz="112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统一 Token 账本</a:t>
            </a:r>
          </a:p>
          <a:p xmlns:a="http://schemas.openxmlformats.org/drawingml/2006/main">
            <a:pPr algn="l">
              <a:defRPr sz="112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统一账单和结算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形成可销售服务包。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BF3AF3-98D9-4936-8800-2F97E645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81250"/>
            <a:ext cx="2743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DC"/>
          </a:solidFill>
          <a:ln xmlns:a="http://schemas.openxmlformats.org/drawingml/2006/main" w="9525">
            <a:solidFill>
              <a:srgbClr val="4C7C5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FE981B-5A76-4AE2-A469-7287663D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14600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7C5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4C7C59"/>
                </a:solidFill>
                <a:latin typeface="Hiragino Sans GB"/>
                <a:ea typeface="Hiragino Sans GB"/>
                <a:cs typeface="Hiragino Sans GB"/>
              </a:rPr>
              <a:t>未来演进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BD497B-AC74-41E0-852C-E2EE4DED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00350"/>
            <a:ext cx="24384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X402 能力并入 Token 系统</a:t>
            </a:r>
          </a:p>
          <a:p xmlns:a="http://schemas.openxmlformats.org/drawingml/2006/main">
            <a:pPr algn="l">
              <a:defRPr sz="112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支持多链、多资产、多模型</a:t>
            </a:r>
          </a:p>
          <a:p xmlns:a="http://schemas.openxmlformats.org/drawingml/2006/main">
            <a:pPr algn="l">
              <a:defRPr sz="112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87386"/>
                </a:solidFill>
                <a:latin typeface="Hiragino Sans GB"/>
                <a:ea typeface="Hiragino Sans GB"/>
                <a:cs typeface="Hiragino Sans GB"/>
              </a:rPr>
              <a:t>可扩展到更多 Agent Commerce 场景</a:t>
            </a:r>
          </a:p>
        </p:txBody>
      </p:sp>
      <p:cxnSp>
        <p:nvCxnSpPr>
          <p:cNvPr id="17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543300" y="333375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59A3D"/>
            </a:solidFill>
            <a:prstDash val="solid"/>
            <a:tailEnd type="arrow" w="sm" len="sm"/>
          </a:ln>
        </p:spPr>
      </p:cxnSp>
      <p:cxnSp>
        <p:nvCxnSpPr>
          <p:cNvPr id="18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410450" y="333375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C7C59"/>
            </a:solidFill>
            <a:prstDash val="solid"/>
            <a:tailEnd type="arrow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14F13A-6D2A-42E6-AE49-87857F4D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44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533C39-7EC9-4CB9-A197-46133DB1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959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6B6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0E6B67"/>
                </a:solidFill>
                <a:latin typeface="Avenir Next"/>
                <a:ea typeface="Avenir Next"/>
                <a:cs typeface="Avenir Next"/>
              </a:rPr>
              <a:t>0-1 个月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E01D6C-F648-4D8B-B076-8F0AC40A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435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rPr>
              <a:t>完成可演示 Demo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856197-0358-4329-BA98-89E33F99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1244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6D43D1-4BFD-46DA-914C-D02EE96B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2959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59A3D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C59A3D"/>
                </a:solidFill>
                <a:latin typeface="Avenir Next"/>
                <a:ea typeface="Avenir Next"/>
                <a:cs typeface="Avenir Next"/>
              </a:rPr>
              <a:t>1-3 个月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DDCDFA-4565-41D9-8B0C-7ECD3EAB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5435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rPr>
              <a:t>商户试点与接口打磨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A077EE-0A98-49A4-81E5-C7043BB9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1244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952BEF-43F4-48E7-A2C5-9A027ED5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959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C7C5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4C7C59"/>
                </a:solidFill>
                <a:latin typeface="Avenir Next"/>
                <a:ea typeface="Avenir Next"/>
                <a:cs typeface="Avenir Next"/>
              </a:rPr>
              <a:t>3-6 个月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2B0377-1B1C-4223-A5B5-B0262633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5435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rPr>
              <a:t>管理后台、账务、结算产品化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F800D7-95AA-4E6A-B09F-5D6CC67C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1244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5C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076A3E-A43E-4F2D-A2E1-DF44EFC8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2959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5C9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5F5C9B"/>
                </a:solidFill>
                <a:latin typeface="Avenir Next"/>
                <a:ea typeface="Avenir Next"/>
                <a:cs typeface="Avenir Next"/>
              </a:rPr>
              <a:t>6 个月+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B1EA49-B54A-43E8-9281-7A890259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5435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243147"/>
                </a:solidFill>
                <a:latin typeface="Hiragino Sans GB"/>
                <a:ea typeface="Hiragino Sans GB"/>
                <a:cs typeface="Hiragino Sans GB"/>
              </a:rPr>
              <a:t>多商户、多资产、多模型扩展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BEB623-C1BB-47C4-8263-6CBBCF19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B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D318B3-B8EA-4C95-848C-2171AAA4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B8491"/>
                </a:solidFill>
                <a:latin typeface="Avenir Next"/>
                <a:ea typeface="Avenir Next"/>
                <a:cs typeface="Avenir Next"/>
              </a:rPr>
              <a:t>Source: proposal.md | Internal demo narrative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19EBBE-9A21-41B6-A6F9-0BED7E7C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491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7B8491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7411854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52ADAD-B099-4208-B2FE-A2A44CC2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95287-BB45-4210-945E-786ED733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2033"/>
              </a:gs>
              <a:gs pos="68000">
                <a:srgbClr val="203047"/>
              </a:gs>
              <a:gs pos="100000">
                <a:srgbClr val="233B3B"/>
              </a:gs>
            </a:gsLst>
            <a:lin ang="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69A5DF0-746A-4237-9A01-D8F490DB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7913627-BBE9-48C7-80AD-07C01651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E1B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1E1B8"/>
                </a:solidFill>
                <a:latin typeface="Avenir Next"/>
                <a:ea typeface="Avenir Next"/>
                <a:cs typeface="Avenir Next"/>
              </a:rPr>
              <a:t>MANAGEMENT 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E49B68-912B-4BD7-8BEB-A202CA96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7524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建议把该 Demo 定位为</a:t>
            </a:r>
          </a:p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Agent Commerce 支付样板，而不是单点技术验证。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54B88-B89B-4FBF-8CA8-7257BE01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714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E1E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D7E1E5"/>
                </a:solidFill>
                <a:latin typeface="Hiragino Sans GB"/>
                <a:ea typeface="Hiragino Sans GB"/>
                <a:cs typeface="Hiragino Sans GB"/>
              </a:rPr>
              <a:t>经营层需要批准三件事：Demo 范围、跨主体协作、以及面向试点商户的商业化包装。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295206-B659-43EA-8903-EC1E7F27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952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A50"/>
          </a:solidFill>
          <a:ln xmlns:a="http://schemas.openxmlformats.org/drawingml/2006/main" w="14288">
            <a:solidFill>
              <a:srgbClr val="0E6B6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06F752-C2A0-4548-B148-9B763487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6B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D0935F-0D53-4858-867E-19F3D4C0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FCD921-457D-4476-A752-3787D3AA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确认 Demo 口径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337D35-454B-4ADF-8A68-BA6E8510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E0E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D6E0E5"/>
                </a:solidFill>
                <a:latin typeface="Hiragino Sans GB"/>
                <a:ea typeface="Hiragino Sans GB"/>
                <a:cs typeface="Hiragino Sans GB"/>
              </a:rPr>
              <a:t>以机场零售运营 Agent 为故事线，完整展示支付、Token、调用与账务闭环。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D77572-19E4-4C42-A193-550FD7F2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38550"/>
            <a:ext cx="2952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A50"/>
          </a:solidFill>
          <a:ln xmlns:a="http://schemas.openxmlformats.org/drawingml/2006/main" w="14288">
            <a:solidFill>
              <a:srgbClr val="C59A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EABE09-C162-49BC-A4BF-038CC903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48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156C24-1298-43AA-962C-98D0B0D2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052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79E5F9-32CD-45A2-A078-437A4CCC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8481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锁定协作边界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F33528-2ED8-49A3-BCFB-94C163DD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434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E0E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D6E0E5"/>
                </a:solidFill>
                <a:latin typeface="Hiragino Sans GB"/>
                <a:ea typeface="Hiragino Sans GB"/>
                <a:cs typeface="Hiragino Sans GB"/>
              </a:rPr>
              <a:t>Netstars 面向客户统一承接；Wea Japan 负责链上执行；Token 系统沉淀账务。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8DE0C8-8C65-48A8-862B-F518F584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38550"/>
            <a:ext cx="2952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A50"/>
          </a:solidFill>
          <a:ln xmlns:a="http://schemas.openxmlformats.org/drawingml/2006/main" w="14288">
            <a:solidFill>
              <a:srgbClr val="4C7C5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29CE44-C339-49A7-BDD6-9B602200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48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E7AF4D-8621-4116-A31A-7846BFBC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052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437ECB-74FB-4337-9114-5EFE4E4F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481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启动试点包装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E98F8B-C020-4044-ACC6-F3ACC280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434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E0E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D6E0E5"/>
                </a:solidFill>
                <a:latin typeface="Hiragino Sans GB"/>
                <a:ea typeface="Hiragino Sans GB"/>
                <a:cs typeface="Hiragino Sans GB"/>
              </a:rPr>
              <a:t>形成 SDK / API / MCP、后台 Console、商户套餐和结算说明，支持对外展示。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B74408-2A84-4DB3-90E8-3BC8940F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914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1B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1E1B8"/>
                </a:solidFill>
                <a:latin typeface="Hiragino Sans GB"/>
                <a:ea typeface="Hiragino Sans GB"/>
                <a:cs typeface="Hiragino Sans GB"/>
              </a:rPr>
              <a:t>下一步输出物：可演示系统、商户接入说明、支付与 Token 流程图、试点报价与运营后台原型。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D0B5AB-EE20-41CC-9947-5F458EC0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0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D71BFE-B5D8-4AAB-BF83-E4D9B70C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7D0D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C7D0D6"/>
                </a:solidFill>
                <a:latin typeface="Avenir Next"/>
                <a:ea typeface="Avenir Next"/>
                <a:cs typeface="Avenir Next"/>
              </a:rPr>
              <a:t>Source: proposal.md | Internal demo narrative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47B09F-241E-490D-8819-0553D021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C7D0D6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C7D0D6"/>
                </a:solidFill>
                <a:latin typeface="Avenir Next"/>
                <a:ea typeface="Avenir Next"/>
                <a:cs typeface="Avenir Next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985869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2026-05-25T14:51:20.4540000Z</dcterms:created>
  <dcterms:modified xsi:type="dcterms:W3CDTF">2026-05-25T14:51:20.4540000Z</dcterms:modified>
</coreProperties>
</file>